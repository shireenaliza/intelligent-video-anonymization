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Raleway"/>
      <p:regular r:id="rId26"/>
      <p:bold r:id="rId27"/>
      <p:italic r:id="rId28"/>
      <p:boldItalic r:id="rId29"/>
    </p:embeddedFont>
    <p:embeddedFont>
      <p:font typeface="Roboto"/>
      <p:regular r:id="rId30"/>
      <p:bold r:id="rId31"/>
      <p:italic r:id="rId32"/>
      <p:boldItalic r:id="rId33"/>
    </p:embeddedFont>
    <p:embeddedFont>
      <p:font typeface="Anaheim"/>
      <p:regular r:id="rId34"/>
      <p:bold r:id="rId35"/>
    </p:embeddedFont>
    <p:embeddedFont>
      <p:font typeface="Blinker"/>
      <p:regular r:id="rId36"/>
      <p:bold r:id="rId37"/>
    </p:embeddedFont>
    <p:embeddedFont>
      <p:font typeface="PT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TSans-italic.fntdata"/><Relationship Id="rId20" Type="http://schemas.openxmlformats.org/officeDocument/2006/relationships/slide" Target="slides/slide16.xml"/><Relationship Id="rId41" Type="http://schemas.openxmlformats.org/officeDocument/2006/relationships/font" Target="fonts/PTSans-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aleway-regular.fntdata"/><Relationship Id="rId25" Type="http://schemas.openxmlformats.org/officeDocument/2006/relationships/slide" Target="slides/slide21.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aleway-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7.xml"/><Relationship Id="rId33" Type="http://schemas.openxmlformats.org/officeDocument/2006/relationships/font" Target="fonts/Roboto-boldItalic.fntdata"/><Relationship Id="rId10" Type="http://schemas.openxmlformats.org/officeDocument/2006/relationships/slide" Target="slides/slide6.xml"/><Relationship Id="rId32" Type="http://schemas.openxmlformats.org/officeDocument/2006/relationships/font" Target="fonts/Roboto-italic.fntdata"/><Relationship Id="rId13" Type="http://schemas.openxmlformats.org/officeDocument/2006/relationships/slide" Target="slides/slide9.xml"/><Relationship Id="rId35" Type="http://schemas.openxmlformats.org/officeDocument/2006/relationships/font" Target="fonts/Anaheim-bold.fntdata"/><Relationship Id="rId12" Type="http://schemas.openxmlformats.org/officeDocument/2006/relationships/slide" Target="slides/slide8.xml"/><Relationship Id="rId34" Type="http://schemas.openxmlformats.org/officeDocument/2006/relationships/font" Target="fonts/Anaheim-regular.fntdata"/><Relationship Id="rId15" Type="http://schemas.openxmlformats.org/officeDocument/2006/relationships/slide" Target="slides/slide11.xml"/><Relationship Id="rId37" Type="http://schemas.openxmlformats.org/officeDocument/2006/relationships/font" Target="fonts/Blinker-bold.fntdata"/><Relationship Id="rId14" Type="http://schemas.openxmlformats.org/officeDocument/2006/relationships/slide" Target="slides/slide10.xml"/><Relationship Id="rId36" Type="http://schemas.openxmlformats.org/officeDocument/2006/relationships/font" Target="fonts/Blinker-regular.fntdata"/><Relationship Id="rId17" Type="http://schemas.openxmlformats.org/officeDocument/2006/relationships/slide" Target="slides/slide13.xml"/><Relationship Id="rId39" Type="http://schemas.openxmlformats.org/officeDocument/2006/relationships/font" Target="fonts/PTSans-bold.fntdata"/><Relationship Id="rId16" Type="http://schemas.openxmlformats.org/officeDocument/2006/relationships/slide" Target="slides/slide12.xml"/><Relationship Id="rId38" Type="http://schemas.openxmlformats.org/officeDocument/2006/relationships/font" Target="fonts/PTSans-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505d00c7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505d00c7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f3d178b43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f3d178b43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54dda1946d_4_2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54dda1946d_4_2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f3d178b432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f3d178b432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54dda1946d_4_2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54dda1946d_4_2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84d99d1a7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84d99d1a7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1505d00c74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1505d00c74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1505d00c74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1505d00c74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1505d00c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1505d00c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1505d00c74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1505d00c74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1505d00c7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1505d00c7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4a677e2b3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4a677e2b3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d44c0c1fca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d44c0c1fc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4a677e2b3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4a677e2b3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4a677e2b3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4a677e2b3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4a677e2b3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4a677e2b3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1505d00c74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1505d00c74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1280100" y="2289700"/>
            <a:ext cx="6583800" cy="1645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5000">
                <a:latin typeface="Blinker"/>
                <a:ea typeface="Blinker"/>
                <a:cs typeface="Blinker"/>
                <a:sym typeface="Blinker"/>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2307675" y="3935500"/>
            <a:ext cx="45288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latin typeface="Blinker"/>
                <a:ea typeface="Blinker"/>
                <a:cs typeface="Blinker"/>
                <a:sym typeface="Blinker"/>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3"/>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type="title"/>
          </p:nvPr>
        </p:nvSpPr>
        <p:spPr>
          <a:xfrm>
            <a:off x="4681675" y="1973300"/>
            <a:ext cx="3749100" cy="16266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hasCustomPrompt="1" idx="2" type="title"/>
          </p:nvPr>
        </p:nvSpPr>
        <p:spPr>
          <a:xfrm>
            <a:off x="6956275" y="539500"/>
            <a:ext cx="1474500" cy="12801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10000">
                <a:solidFill>
                  <a:schemeClr val="accen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p:nvPr>
            <p:ph idx="3" type="pic"/>
          </p:nvPr>
        </p:nvSpPr>
        <p:spPr>
          <a:xfrm>
            <a:off x="483675" y="539500"/>
            <a:ext cx="3657600" cy="4064400"/>
          </a:xfrm>
          <a:prstGeom prst="roundRect">
            <a:avLst>
              <a:gd fmla="val 5553" name="adj"/>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 name="Google Shape;20;p4"/>
          <p:cNvSpPr txBox="1"/>
          <p:nvPr>
            <p:ph idx="1" type="body"/>
          </p:nvPr>
        </p:nvSpPr>
        <p:spPr>
          <a:xfrm>
            <a:off x="720000" y="1215752"/>
            <a:ext cx="7704000" cy="375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 name="Google Shape;24;p5"/>
          <p:cNvSpPr txBox="1"/>
          <p:nvPr>
            <p:ph idx="1" type="subTitle"/>
          </p:nvPr>
        </p:nvSpPr>
        <p:spPr>
          <a:xfrm>
            <a:off x="5590492" y="2497399"/>
            <a:ext cx="2651700" cy="1280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5" name="Google Shape;25;p5"/>
          <p:cNvSpPr txBox="1"/>
          <p:nvPr>
            <p:ph idx="2" type="subTitle"/>
          </p:nvPr>
        </p:nvSpPr>
        <p:spPr>
          <a:xfrm>
            <a:off x="1685976" y="2497399"/>
            <a:ext cx="2651700" cy="1280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6" name="Google Shape;26;p5"/>
          <p:cNvSpPr txBox="1"/>
          <p:nvPr>
            <p:ph idx="3" type="subTitle"/>
          </p:nvPr>
        </p:nvSpPr>
        <p:spPr>
          <a:xfrm>
            <a:off x="1685976" y="2040204"/>
            <a:ext cx="2651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7" name="Google Shape;27;p5"/>
          <p:cNvSpPr txBox="1"/>
          <p:nvPr>
            <p:ph idx="4" type="subTitle"/>
          </p:nvPr>
        </p:nvSpPr>
        <p:spPr>
          <a:xfrm>
            <a:off x="5590494" y="2040204"/>
            <a:ext cx="2651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 name="Google Shape;30;p6"/>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7"/>
          <p:cNvSpPr txBox="1"/>
          <p:nvPr>
            <p:ph type="title"/>
          </p:nvPr>
        </p:nvSpPr>
        <p:spPr>
          <a:xfrm>
            <a:off x="713225" y="834300"/>
            <a:ext cx="3657600" cy="1005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 name="Google Shape;34;p7"/>
          <p:cNvSpPr txBox="1"/>
          <p:nvPr>
            <p:ph idx="1" type="subTitle"/>
          </p:nvPr>
        </p:nvSpPr>
        <p:spPr>
          <a:xfrm>
            <a:off x="713225" y="1840200"/>
            <a:ext cx="3657600" cy="246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35" name="Google Shape;35;p7"/>
          <p:cNvSpPr/>
          <p:nvPr>
            <p:ph idx="2" type="pic"/>
          </p:nvPr>
        </p:nvSpPr>
        <p:spPr>
          <a:xfrm>
            <a:off x="4925575" y="539500"/>
            <a:ext cx="3657600" cy="4064400"/>
          </a:xfrm>
          <a:prstGeom prst="roundRect">
            <a:avLst>
              <a:gd fmla="val 16667" name="adj"/>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8"/>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1" name="Google Shape;41;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2" name="Google Shape;42;p9"/>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p:nvPr>
            <p:ph idx="2" type="pic"/>
          </p:nvPr>
        </p:nvSpPr>
        <p:spPr>
          <a:xfrm>
            <a:off x="271750" y="212400"/>
            <a:ext cx="8577900" cy="4718700"/>
          </a:xfrm>
          <a:prstGeom prst="roundRect">
            <a:avLst>
              <a:gd fmla="val 4096" name="adj"/>
            </a:avLst>
          </a:prstGeom>
          <a:noFill/>
          <a:ln cap="flat" cmpd="sng" w="9525">
            <a:solidFill>
              <a:schemeClr val="dk1"/>
            </a:solidFill>
            <a:prstDash val="solid"/>
            <a:round/>
            <a:headEnd len="sm" w="sm" type="none"/>
            <a:tailEnd len="sm" w="sm" type="none"/>
          </a:ln>
        </p:spPr>
      </p:sp>
      <p:sp>
        <p:nvSpPr>
          <p:cNvPr id="45" name="Google Shape;45;p10"/>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1284000" y="2573445"/>
            <a:ext cx="6576000" cy="9144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8" name="Google Shape;48;p11"/>
          <p:cNvSpPr txBox="1"/>
          <p:nvPr>
            <p:ph idx="1" type="subTitle"/>
          </p:nvPr>
        </p:nvSpPr>
        <p:spPr>
          <a:xfrm>
            <a:off x="1284000" y="341164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49" name="Google Shape;49;p11"/>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1" name="Shape 51"/>
        <p:cNvGrpSpPr/>
        <p:nvPr/>
      </p:nvGrpSpPr>
      <p:grpSpPr>
        <a:xfrm>
          <a:off x="0" y="0"/>
          <a:ext cx="0" cy="0"/>
          <a:chOff x="0" y="0"/>
          <a:chExt cx="0" cy="0"/>
        </a:xfrm>
      </p:grpSpPr>
      <p:sp>
        <p:nvSpPr>
          <p:cNvPr id="52" name="Google Shape;52;p13"/>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4" name="Google Shape;54;p13"/>
          <p:cNvSpPr txBox="1"/>
          <p:nvPr>
            <p:ph hasCustomPrompt="1" idx="2" type="title"/>
          </p:nvPr>
        </p:nvSpPr>
        <p:spPr>
          <a:xfrm>
            <a:off x="1148900" y="1341783"/>
            <a:ext cx="734700" cy="45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p:nvPr>
            <p:ph hasCustomPrompt="1" idx="3" type="title"/>
          </p:nvPr>
        </p:nvSpPr>
        <p:spPr>
          <a:xfrm>
            <a:off x="1148900" y="3003791"/>
            <a:ext cx="734700" cy="45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p:nvPr>
            <p:ph hasCustomPrompt="1" idx="4" type="title"/>
          </p:nvPr>
        </p:nvSpPr>
        <p:spPr>
          <a:xfrm>
            <a:off x="1142125" y="1875183"/>
            <a:ext cx="734700" cy="45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p:nvPr>
            <p:ph hasCustomPrompt="1" idx="5" type="title"/>
          </p:nvPr>
        </p:nvSpPr>
        <p:spPr>
          <a:xfrm>
            <a:off x="1142125" y="3537191"/>
            <a:ext cx="734700" cy="45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p:nvPr>
            <p:ph hasCustomPrompt="1" idx="6" type="title"/>
          </p:nvPr>
        </p:nvSpPr>
        <p:spPr>
          <a:xfrm>
            <a:off x="1142125" y="2408583"/>
            <a:ext cx="734700" cy="45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p:nvPr>
            <p:ph hasCustomPrompt="1" idx="7" type="title"/>
          </p:nvPr>
        </p:nvSpPr>
        <p:spPr>
          <a:xfrm>
            <a:off x="1142125" y="4070591"/>
            <a:ext cx="734700" cy="4572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000"/>
              <a:buNone/>
              <a:defRPr sz="3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 name="Google Shape;60;p13"/>
          <p:cNvSpPr txBox="1"/>
          <p:nvPr>
            <p:ph idx="1" type="subTitle"/>
          </p:nvPr>
        </p:nvSpPr>
        <p:spPr>
          <a:xfrm>
            <a:off x="1883600" y="1341775"/>
            <a:ext cx="25320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 name="Google Shape;61;p13"/>
          <p:cNvSpPr txBox="1"/>
          <p:nvPr>
            <p:ph idx="8" type="subTitle"/>
          </p:nvPr>
        </p:nvSpPr>
        <p:spPr>
          <a:xfrm>
            <a:off x="1876825" y="1875175"/>
            <a:ext cx="25320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2" name="Google Shape;62;p13"/>
          <p:cNvSpPr txBox="1"/>
          <p:nvPr>
            <p:ph idx="9" type="subTitle"/>
          </p:nvPr>
        </p:nvSpPr>
        <p:spPr>
          <a:xfrm>
            <a:off x="1876825" y="2408575"/>
            <a:ext cx="25320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3" name="Google Shape;63;p13"/>
          <p:cNvSpPr txBox="1"/>
          <p:nvPr>
            <p:ph idx="13" type="subTitle"/>
          </p:nvPr>
        </p:nvSpPr>
        <p:spPr>
          <a:xfrm>
            <a:off x="1883600" y="3003800"/>
            <a:ext cx="25320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4" name="Google Shape;64;p13"/>
          <p:cNvSpPr txBox="1"/>
          <p:nvPr>
            <p:ph idx="14" type="subTitle"/>
          </p:nvPr>
        </p:nvSpPr>
        <p:spPr>
          <a:xfrm>
            <a:off x="1876825" y="3537200"/>
            <a:ext cx="25320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5" name="Google Shape;65;p13"/>
          <p:cNvSpPr txBox="1"/>
          <p:nvPr>
            <p:ph idx="15" type="subTitle"/>
          </p:nvPr>
        </p:nvSpPr>
        <p:spPr>
          <a:xfrm>
            <a:off x="1876825" y="4070600"/>
            <a:ext cx="2532000" cy="457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66" name="Shape 66"/>
        <p:cNvGrpSpPr/>
        <p:nvPr/>
      </p:nvGrpSpPr>
      <p:grpSpPr>
        <a:xfrm>
          <a:off x="0" y="0"/>
          <a:ext cx="0" cy="0"/>
          <a:chOff x="0" y="0"/>
          <a:chExt cx="0" cy="0"/>
        </a:xfrm>
      </p:grpSpPr>
      <p:sp>
        <p:nvSpPr>
          <p:cNvPr id="67" name="Google Shape;67;p14"/>
          <p:cNvSpPr txBox="1"/>
          <p:nvPr>
            <p:ph type="title"/>
          </p:nvPr>
        </p:nvSpPr>
        <p:spPr>
          <a:xfrm>
            <a:off x="3585113" y="1421100"/>
            <a:ext cx="4373700" cy="548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8" name="Google Shape;68;p14"/>
          <p:cNvSpPr txBox="1"/>
          <p:nvPr>
            <p:ph idx="1" type="subTitle"/>
          </p:nvPr>
        </p:nvSpPr>
        <p:spPr>
          <a:xfrm>
            <a:off x="3585113" y="1893600"/>
            <a:ext cx="4373700" cy="182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sp>
        <p:nvSpPr>
          <p:cNvPr id="69" name="Google Shape;69;p14"/>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70" name="Shape 70"/>
        <p:cNvGrpSpPr/>
        <p:nvPr/>
      </p:nvGrpSpPr>
      <p:grpSpPr>
        <a:xfrm>
          <a:off x="0" y="0"/>
          <a:ext cx="0" cy="0"/>
          <a:chOff x="0" y="0"/>
          <a:chExt cx="0" cy="0"/>
        </a:xfrm>
      </p:grpSpPr>
      <p:sp>
        <p:nvSpPr>
          <p:cNvPr id="71" name="Google Shape;71;p15"/>
          <p:cNvSpPr txBox="1"/>
          <p:nvPr>
            <p:ph type="title"/>
          </p:nvPr>
        </p:nvSpPr>
        <p:spPr>
          <a:xfrm>
            <a:off x="713225" y="539500"/>
            <a:ext cx="2286000" cy="1005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2" name="Google Shape;72;p15"/>
          <p:cNvSpPr txBox="1"/>
          <p:nvPr>
            <p:ph idx="1" type="subTitle"/>
          </p:nvPr>
        </p:nvSpPr>
        <p:spPr>
          <a:xfrm>
            <a:off x="713225" y="1500225"/>
            <a:ext cx="2286000" cy="109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3" name="Google Shape;73;p15"/>
          <p:cNvSpPr/>
          <p:nvPr>
            <p:ph idx="2" type="pic"/>
          </p:nvPr>
        </p:nvSpPr>
        <p:spPr>
          <a:xfrm>
            <a:off x="5782075" y="547051"/>
            <a:ext cx="2801100" cy="4049400"/>
          </a:xfrm>
          <a:prstGeom prst="roundRect">
            <a:avLst>
              <a:gd fmla="val 16667" name="adj"/>
            </a:avLst>
          </a:prstGeom>
          <a:noFill/>
          <a:ln cap="flat" cmpd="sng" w="9525">
            <a:solidFill>
              <a:schemeClr val="dk1"/>
            </a:solidFill>
            <a:prstDash val="solid"/>
            <a:round/>
            <a:headEnd len="sm" w="sm" type="none"/>
            <a:tailEnd len="sm" w="sm" type="none"/>
          </a:ln>
        </p:spPr>
      </p:sp>
      <p:sp>
        <p:nvSpPr>
          <p:cNvPr id="74" name="Google Shape;74;p15"/>
          <p:cNvSpPr/>
          <p:nvPr>
            <p:ph idx="3" type="pic"/>
          </p:nvPr>
        </p:nvSpPr>
        <p:spPr>
          <a:xfrm>
            <a:off x="3366975" y="547051"/>
            <a:ext cx="2304300" cy="2285700"/>
          </a:xfrm>
          <a:prstGeom prst="roundRect">
            <a:avLst>
              <a:gd fmla="val 16667" name="adj"/>
            </a:avLst>
          </a:prstGeom>
          <a:noFill/>
          <a:ln cap="flat" cmpd="sng" w="9525">
            <a:solidFill>
              <a:schemeClr val="dk1"/>
            </a:solidFill>
            <a:prstDash val="solid"/>
            <a:round/>
            <a:headEnd len="sm" w="sm" type="none"/>
            <a:tailEnd len="sm" w="sm" type="none"/>
          </a:ln>
        </p:spPr>
      </p:sp>
      <p:sp>
        <p:nvSpPr>
          <p:cNvPr id="75" name="Google Shape;75;p15"/>
          <p:cNvSpPr/>
          <p:nvPr>
            <p:ph idx="4" type="pic"/>
          </p:nvPr>
        </p:nvSpPr>
        <p:spPr>
          <a:xfrm>
            <a:off x="713225" y="2946150"/>
            <a:ext cx="4933800" cy="1650300"/>
          </a:xfrm>
          <a:prstGeom prst="roundRect">
            <a:avLst>
              <a:gd fmla="val 16667" name="adj"/>
            </a:avLst>
          </a:prstGeom>
          <a:noFill/>
          <a:ln cap="flat" cmpd="sng" w="9525">
            <a:solidFill>
              <a:schemeClr val="dk1"/>
            </a:solidFill>
            <a:prstDash val="solid"/>
            <a:round/>
            <a:headEnd len="sm" w="sm" type="none"/>
            <a:tailEnd len="sm" w="sm" type="none"/>
          </a:ln>
        </p:spPr>
      </p:sp>
      <p:sp>
        <p:nvSpPr>
          <p:cNvPr id="76" name="Google Shape;76;p15"/>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7" name="Shape 77"/>
        <p:cNvGrpSpPr/>
        <p:nvPr/>
      </p:nvGrpSpPr>
      <p:grpSpPr>
        <a:xfrm>
          <a:off x="0" y="0"/>
          <a:ext cx="0" cy="0"/>
          <a:chOff x="0" y="0"/>
          <a:chExt cx="0" cy="0"/>
        </a:xfrm>
      </p:grpSpPr>
      <p:sp>
        <p:nvSpPr>
          <p:cNvPr id="78" name="Google Shape;78;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9" name="Google Shape;79;p16"/>
          <p:cNvSpPr txBox="1"/>
          <p:nvPr>
            <p:ph idx="1" type="subTitle"/>
          </p:nvPr>
        </p:nvSpPr>
        <p:spPr>
          <a:xfrm>
            <a:off x="720000" y="2805801"/>
            <a:ext cx="2175300" cy="164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0" name="Google Shape;80;p16"/>
          <p:cNvSpPr txBox="1"/>
          <p:nvPr>
            <p:ph idx="2" type="subTitle"/>
          </p:nvPr>
        </p:nvSpPr>
        <p:spPr>
          <a:xfrm>
            <a:off x="3484348" y="2805801"/>
            <a:ext cx="2175300" cy="164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1" name="Google Shape;81;p16"/>
          <p:cNvSpPr txBox="1"/>
          <p:nvPr>
            <p:ph idx="3" type="subTitle"/>
          </p:nvPr>
        </p:nvSpPr>
        <p:spPr>
          <a:xfrm>
            <a:off x="6248700" y="2805801"/>
            <a:ext cx="2175300" cy="164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2" name="Google Shape;82;p16"/>
          <p:cNvSpPr txBox="1"/>
          <p:nvPr>
            <p:ph idx="4" type="subTitle"/>
          </p:nvPr>
        </p:nvSpPr>
        <p:spPr>
          <a:xfrm>
            <a:off x="720000" y="2173700"/>
            <a:ext cx="21753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3" name="Google Shape;83;p16"/>
          <p:cNvSpPr txBox="1"/>
          <p:nvPr>
            <p:ph idx="5" type="subTitle"/>
          </p:nvPr>
        </p:nvSpPr>
        <p:spPr>
          <a:xfrm>
            <a:off x="3484352" y="2173700"/>
            <a:ext cx="21753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4" name="Google Shape;84;p16"/>
          <p:cNvSpPr txBox="1"/>
          <p:nvPr>
            <p:ph idx="6" type="subTitle"/>
          </p:nvPr>
        </p:nvSpPr>
        <p:spPr>
          <a:xfrm>
            <a:off x="6248700" y="2173700"/>
            <a:ext cx="2175300" cy="708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85" name="Google Shape;85;p16"/>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6" name="Shape 86"/>
        <p:cNvGrpSpPr/>
        <p:nvPr/>
      </p:nvGrpSpPr>
      <p:grpSpPr>
        <a:xfrm>
          <a:off x="0" y="0"/>
          <a:ext cx="0" cy="0"/>
          <a:chOff x="0" y="0"/>
          <a:chExt cx="0" cy="0"/>
        </a:xfrm>
      </p:grpSpPr>
      <p:sp>
        <p:nvSpPr>
          <p:cNvPr id="87" name="Google Shape;87;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8" name="Google Shape;88;p17"/>
          <p:cNvSpPr txBox="1"/>
          <p:nvPr>
            <p:ph idx="1" type="subTitle"/>
          </p:nvPr>
        </p:nvSpPr>
        <p:spPr>
          <a:xfrm>
            <a:off x="902878" y="1861325"/>
            <a:ext cx="3484500" cy="100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9" name="Google Shape;89;p17"/>
          <p:cNvSpPr txBox="1"/>
          <p:nvPr>
            <p:ph idx="2" type="subTitle"/>
          </p:nvPr>
        </p:nvSpPr>
        <p:spPr>
          <a:xfrm>
            <a:off x="4893720" y="1861325"/>
            <a:ext cx="3484500" cy="100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0" name="Google Shape;90;p17"/>
          <p:cNvSpPr txBox="1"/>
          <p:nvPr>
            <p:ph idx="3" type="subTitle"/>
          </p:nvPr>
        </p:nvSpPr>
        <p:spPr>
          <a:xfrm>
            <a:off x="902878" y="3521900"/>
            <a:ext cx="3484500" cy="100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1" name="Google Shape;91;p17"/>
          <p:cNvSpPr txBox="1"/>
          <p:nvPr>
            <p:ph idx="4" type="subTitle"/>
          </p:nvPr>
        </p:nvSpPr>
        <p:spPr>
          <a:xfrm>
            <a:off x="4893720" y="3521900"/>
            <a:ext cx="3484500" cy="100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2" name="Google Shape;92;p17"/>
          <p:cNvSpPr txBox="1"/>
          <p:nvPr>
            <p:ph idx="5" type="subTitle"/>
          </p:nvPr>
        </p:nvSpPr>
        <p:spPr>
          <a:xfrm>
            <a:off x="902879" y="1482475"/>
            <a:ext cx="3484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3" name="Google Shape;93;p17"/>
          <p:cNvSpPr txBox="1"/>
          <p:nvPr>
            <p:ph idx="6" type="subTitle"/>
          </p:nvPr>
        </p:nvSpPr>
        <p:spPr>
          <a:xfrm>
            <a:off x="902879" y="3143175"/>
            <a:ext cx="3484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4" name="Google Shape;94;p17"/>
          <p:cNvSpPr txBox="1"/>
          <p:nvPr>
            <p:ph idx="7" type="subTitle"/>
          </p:nvPr>
        </p:nvSpPr>
        <p:spPr>
          <a:xfrm>
            <a:off x="4893691" y="1482475"/>
            <a:ext cx="3484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5" name="Google Shape;95;p17"/>
          <p:cNvSpPr txBox="1"/>
          <p:nvPr>
            <p:ph idx="8" type="subTitle"/>
          </p:nvPr>
        </p:nvSpPr>
        <p:spPr>
          <a:xfrm>
            <a:off x="4893691" y="3143175"/>
            <a:ext cx="34845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96" name="Google Shape;96;p17"/>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7" name="Shape 97"/>
        <p:cNvGrpSpPr/>
        <p:nvPr/>
      </p:nvGrpSpPr>
      <p:grpSpPr>
        <a:xfrm>
          <a:off x="0" y="0"/>
          <a:ext cx="0" cy="0"/>
          <a:chOff x="0" y="0"/>
          <a:chExt cx="0" cy="0"/>
        </a:xfrm>
      </p:grpSpPr>
      <p:sp>
        <p:nvSpPr>
          <p:cNvPr id="98" name="Google Shape;9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9" name="Google Shape;99;p18"/>
          <p:cNvSpPr txBox="1"/>
          <p:nvPr>
            <p:ph idx="1" type="subTitle"/>
          </p:nvPr>
        </p:nvSpPr>
        <p:spPr>
          <a:xfrm>
            <a:off x="720000" y="1883110"/>
            <a:ext cx="24471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0" name="Google Shape;100;p18"/>
          <p:cNvSpPr txBox="1"/>
          <p:nvPr>
            <p:ph idx="2" type="subTitle"/>
          </p:nvPr>
        </p:nvSpPr>
        <p:spPr>
          <a:xfrm>
            <a:off x="3348450" y="1883110"/>
            <a:ext cx="24471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1" name="Google Shape;101;p18"/>
          <p:cNvSpPr txBox="1"/>
          <p:nvPr>
            <p:ph idx="3" type="subTitle"/>
          </p:nvPr>
        </p:nvSpPr>
        <p:spPr>
          <a:xfrm>
            <a:off x="720000" y="3613402"/>
            <a:ext cx="24471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2" name="Google Shape;102;p18"/>
          <p:cNvSpPr txBox="1"/>
          <p:nvPr>
            <p:ph idx="4" type="subTitle"/>
          </p:nvPr>
        </p:nvSpPr>
        <p:spPr>
          <a:xfrm>
            <a:off x="3348450" y="3613402"/>
            <a:ext cx="24471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3" name="Google Shape;103;p18"/>
          <p:cNvSpPr txBox="1"/>
          <p:nvPr>
            <p:ph idx="5" type="subTitle"/>
          </p:nvPr>
        </p:nvSpPr>
        <p:spPr>
          <a:xfrm>
            <a:off x="5975095" y="1883110"/>
            <a:ext cx="24471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4" name="Google Shape;104;p18"/>
          <p:cNvSpPr txBox="1"/>
          <p:nvPr>
            <p:ph idx="6" type="subTitle"/>
          </p:nvPr>
        </p:nvSpPr>
        <p:spPr>
          <a:xfrm>
            <a:off x="5975095" y="3613402"/>
            <a:ext cx="2447100" cy="91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 name="Google Shape;105;p18"/>
          <p:cNvSpPr txBox="1"/>
          <p:nvPr>
            <p:ph idx="7" type="subTitle"/>
          </p:nvPr>
        </p:nvSpPr>
        <p:spPr>
          <a:xfrm>
            <a:off x="720000" y="1429125"/>
            <a:ext cx="24471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6" name="Google Shape;106;p18"/>
          <p:cNvSpPr txBox="1"/>
          <p:nvPr>
            <p:ph idx="8" type="subTitle"/>
          </p:nvPr>
        </p:nvSpPr>
        <p:spPr>
          <a:xfrm>
            <a:off x="3348450" y="1429125"/>
            <a:ext cx="2444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7" name="Google Shape;107;p18"/>
          <p:cNvSpPr txBox="1"/>
          <p:nvPr>
            <p:ph idx="9" type="subTitle"/>
          </p:nvPr>
        </p:nvSpPr>
        <p:spPr>
          <a:xfrm>
            <a:off x="5975095" y="1429125"/>
            <a:ext cx="2444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8" name="Google Shape;108;p18"/>
          <p:cNvSpPr txBox="1"/>
          <p:nvPr>
            <p:ph idx="13" type="subTitle"/>
          </p:nvPr>
        </p:nvSpPr>
        <p:spPr>
          <a:xfrm>
            <a:off x="720000" y="3156199"/>
            <a:ext cx="24471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9" name="Google Shape;109;p18"/>
          <p:cNvSpPr txBox="1"/>
          <p:nvPr>
            <p:ph idx="14" type="subTitle"/>
          </p:nvPr>
        </p:nvSpPr>
        <p:spPr>
          <a:xfrm>
            <a:off x="3348450" y="3156205"/>
            <a:ext cx="2444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0" name="Google Shape;110;p18"/>
          <p:cNvSpPr txBox="1"/>
          <p:nvPr>
            <p:ph idx="15" type="subTitle"/>
          </p:nvPr>
        </p:nvSpPr>
        <p:spPr>
          <a:xfrm>
            <a:off x="5975095" y="3156205"/>
            <a:ext cx="24447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000">
                <a:solidFill>
                  <a:schemeClr val="dk1"/>
                </a:solidFill>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1" name="Google Shape;111;p18"/>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2" name="Shape 112"/>
        <p:cNvGrpSpPr/>
        <p:nvPr/>
      </p:nvGrpSpPr>
      <p:grpSpPr>
        <a:xfrm>
          <a:off x="0" y="0"/>
          <a:ext cx="0" cy="0"/>
          <a:chOff x="0" y="0"/>
          <a:chExt cx="0" cy="0"/>
        </a:xfrm>
      </p:grpSpPr>
      <p:sp>
        <p:nvSpPr>
          <p:cNvPr id="113" name="Google Shape;113;p19"/>
          <p:cNvSpPr txBox="1"/>
          <p:nvPr>
            <p:ph hasCustomPrompt="1" type="title"/>
          </p:nvPr>
        </p:nvSpPr>
        <p:spPr>
          <a:xfrm>
            <a:off x="798388" y="2709848"/>
            <a:ext cx="23700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4" name="Google Shape;114;p19"/>
          <p:cNvSpPr txBox="1"/>
          <p:nvPr>
            <p:ph idx="1" type="subTitle"/>
          </p:nvPr>
        </p:nvSpPr>
        <p:spPr>
          <a:xfrm>
            <a:off x="798388" y="3402570"/>
            <a:ext cx="23700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5" name="Google Shape;115;p19"/>
          <p:cNvSpPr txBox="1"/>
          <p:nvPr>
            <p:ph hasCustomPrompt="1" idx="2" type="title"/>
          </p:nvPr>
        </p:nvSpPr>
        <p:spPr>
          <a:xfrm>
            <a:off x="3387000" y="2709837"/>
            <a:ext cx="23700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6" name="Google Shape;116;p19"/>
          <p:cNvSpPr txBox="1"/>
          <p:nvPr>
            <p:ph idx="3" type="subTitle"/>
          </p:nvPr>
        </p:nvSpPr>
        <p:spPr>
          <a:xfrm>
            <a:off x="3387000" y="3402549"/>
            <a:ext cx="23700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7" name="Google Shape;117;p19"/>
          <p:cNvSpPr txBox="1"/>
          <p:nvPr>
            <p:ph hasCustomPrompt="1" idx="4" type="title"/>
          </p:nvPr>
        </p:nvSpPr>
        <p:spPr>
          <a:xfrm>
            <a:off x="6060766" y="2709848"/>
            <a:ext cx="23700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solidFill>
                  <a:schemeClr val="accen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18" name="Google Shape;118;p19"/>
          <p:cNvSpPr txBox="1"/>
          <p:nvPr>
            <p:ph idx="5" type="subTitle"/>
          </p:nvPr>
        </p:nvSpPr>
        <p:spPr>
          <a:xfrm>
            <a:off x="6060766" y="3402570"/>
            <a:ext cx="23700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19" name="Google Shape;119;p19"/>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0" name="Shape 120"/>
        <p:cNvGrpSpPr/>
        <p:nvPr/>
      </p:nvGrpSpPr>
      <p:grpSpPr>
        <a:xfrm>
          <a:off x="0" y="0"/>
          <a:ext cx="0" cy="0"/>
          <a:chOff x="0" y="0"/>
          <a:chExt cx="0" cy="0"/>
        </a:xfrm>
      </p:grpSpPr>
      <p:sp>
        <p:nvSpPr>
          <p:cNvPr id="121" name="Google Shape;121;p20"/>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0"/>
          <p:cNvSpPr txBox="1"/>
          <p:nvPr>
            <p:ph type="title"/>
          </p:nvPr>
        </p:nvSpPr>
        <p:spPr>
          <a:xfrm>
            <a:off x="2347938" y="540000"/>
            <a:ext cx="4448100" cy="1058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3" name="Google Shape;123;p20"/>
          <p:cNvSpPr txBox="1"/>
          <p:nvPr>
            <p:ph idx="1" type="subTitle"/>
          </p:nvPr>
        </p:nvSpPr>
        <p:spPr>
          <a:xfrm>
            <a:off x="2347900" y="1516409"/>
            <a:ext cx="44481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 name="Google Shape;124;p20"/>
          <p:cNvSpPr txBox="1"/>
          <p:nvPr/>
        </p:nvSpPr>
        <p:spPr>
          <a:xfrm>
            <a:off x="2574425" y="3611950"/>
            <a:ext cx="39951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Blinker"/>
                <a:ea typeface="Blinker"/>
                <a:cs typeface="Blinker"/>
                <a:sym typeface="Blinker"/>
              </a:rPr>
              <a:t>CREDITS:</a:t>
            </a:r>
            <a:r>
              <a:rPr lang="en" sz="1000">
                <a:solidFill>
                  <a:schemeClr val="dk1"/>
                </a:solidFill>
                <a:latin typeface="Blinker"/>
                <a:ea typeface="Blinker"/>
                <a:cs typeface="Blinker"/>
                <a:sym typeface="Blinker"/>
              </a:rPr>
              <a:t> This presentation template was created by </a:t>
            </a:r>
            <a:r>
              <a:rPr b="1" lang="en" sz="1000" u="sng">
                <a:solidFill>
                  <a:schemeClr val="hlink"/>
                </a:solidFill>
                <a:latin typeface="Blinker"/>
                <a:ea typeface="Blinker"/>
                <a:cs typeface="Blinker"/>
                <a:sym typeface="Blinker"/>
                <a:hlinkClick r:id="rId2"/>
              </a:rPr>
              <a:t>Slidesgo</a:t>
            </a:r>
            <a:r>
              <a:rPr lang="en" sz="1000">
                <a:solidFill>
                  <a:schemeClr val="dk1"/>
                </a:solidFill>
                <a:latin typeface="Blinker"/>
                <a:ea typeface="Blinker"/>
                <a:cs typeface="Blinker"/>
                <a:sym typeface="Blinker"/>
              </a:rPr>
              <a:t>, and includes icons by </a:t>
            </a:r>
            <a:r>
              <a:rPr b="1" lang="en" sz="1000" u="sng">
                <a:solidFill>
                  <a:schemeClr val="dk1"/>
                </a:solidFill>
                <a:latin typeface="Blinker"/>
                <a:ea typeface="Blinker"/>
                <a:cs typeface="Blinker"/>
                <a:sym typeface="Blinker"/>
                <a:hlinkClick r:id="rId3">
                  <a:extLst>
                    <a:ext uri="{A12FA001-AC4F-418D-AE19-62706E023703}">
                      <ahyp:hlinkClr val="tx"/>
                    </a:ext>
                  </a:extLst>
                </a:hlinkClick>
              </a:rPr>
              <a:t>Flaticon</a:t>
            </a:r>
            <a:r>
              <a:rPr lang="en" sz="1000">
                <a:solidFill>
                  <a:schemeClr val="dk1"/>
                </a:solidFill>
                <a:latin typeface="Blinker"/>
                <a:ea typeface="Blinker"/>
                <a:cs typeface="Blinker"/>
                <a:sym typeface="Blinker"/>
              </a:rPr>
              <a:t>, and infographics &amp; images by </a:t>
            </a:r>
            <a:r>
              <a:rPr b="1" lang="en" sz="1000" u="sng">
                <a:solidFill>
                  <a:schemeClr val="dk1"/>
                </a:solidFill>
                <a:latin typeface="Blinker"/>
                <a:ea typeface="Blinker"/>
                <a:cs typeface="Blinker"/>
                <a:sym typeface="Blinker"/>
                <a:hlinkClick r:id="rId4">
                  <a:extLst>
                    <a:ext uri="{A12FA001-AC4F-418D-AE19-62706E023703}">
                      <ahyp:hlinkClr val="tx"/>
                    </a:ext>
                  </a:extLst>
                </a:hlinkClick>
              </a:rPr>
              <a:t>Freepik</a:t>
            </a:r>
            <a:r>
              <a:rPr lang="en" sz="1000" u="sng">
                <a:solidFill>
                  <a:schemeClr val="dk1"/>
                </a:solidFill>
                <a:latin typeface="Blinker"/>
                <a:ea typeface="Blinker"/>
                <a:cs typeface="Blinker"/>
                <a:sym typeface="Blinker"/>
              </a:rPr>
              <a:t> </a:t>
            </a:r>
            <a:endParaRPr b="1" sz="1000" u="sng">
              <a:solidFill>
                <a:schemeClr val="dk1"/>
              </a:solidFill>
              <a:latin typeface="Blinker"/>
              <a:ea typeface="Blinker"/>
              <a:cs typeface="Blinker"/>
              <a:sym typeface="Blinke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5" name="Shape 125"/>
        <p:cNvGrpSpPr/>
        <p:nvPr/>
      </p:nvGrpSpPr>
      <p:grpSpPr>
        <a:xfrm>
          <a:off x="0" y="0"/>
          <a:ext cx="0" cy="0"/>
          <a:chOff x="0" y="0"/>
          <a:chExt cx="0" cy="0"/>
        </a:xfrm>
      </p:grpSpPr>
      <p:sp>
        <p:nvSpPr>
          <p:cNvPr id="126" name="Google Shape;126;p21"/>
          <p:cNvSpPr/>
          <p:nvPr/>
        </p:nvSpPr>
        <p:spPr>
          <a:xfrm>
            <a:off x="271750" y="212400"/>
            <a:ext cx="8600700" cy="4718700"/>
          </a:xfrm>
          <a:prstGeom prst="roundRect">
            <a:avLst>
              <a:gd fmla="val 377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1pPr>
            <a:lvl2pPr lvl="1"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2pPr>
            <a:lvl3pPr lvl="2"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3pPr>
            <a:lvl4pPr lvl="3"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4pPr>
            <a:lvl5pPr lvl="4"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5pPr>
            <a:lvl6pPr lvl="5"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6pPr>
            <a:lvl7pPr lvl="6"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7pPr>
            <a:lvl8pPr lvl="7"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8pPr>
            <a:lvl9pPr lvl="8" rtl="0">
              <a:spcBef>
                <a:spcPts val="0"/>
              </a:spcBef>
              <a:spcAft>
                <a:spcPts val="0"/>
              </a:spcAft>
              <a:buClr>
                <a:schemeClr val="dk1"/>
              </a:buClr>
              <a:buSzPts val="3000"/>
              <a:buFont typeface="Blinker"/>
              <a:buNone/>
              <a:defRPr b="1" sz="3000">
                <a:solidFill>
                  <a:schemeClr val="dk1"/>
                </a:solidFill>
                <a:latin typeface="Blinker"/>
                <a:ea typeface="Blinker"/>
                <a:cs typeface="Blinker"/>
                <a:sym typeface="Blinker"/>
              </a:defRPr>
            </a:lvl9pPr>
          </a:lstStyle>
          <a:p/>
        </p:txBody>
      </p:sp>
      <p:sp>
        <p:nvSpPr>
          <p:cNvPr id="7" name="Google Shape;7;p1"/>
          <p:cNvSpPr txBox="1"/>
          <p:nvPr>
            <p:ph idx="1" type="body"/>
          </p:nvPr>
        </p:nvSpPr>
        <p:spPr>
          <a:xfrm>
            <a:off x="713225" y="1187600"/>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1pPr>
            <a:lvl2pPr indent="-304800" lvl="1" marL="9144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2pPr>
            <a:lvl3pPr indent="-304800" lvl="2" marL="13716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3pPr>
            <a:lvl4pPr indent="-304800" lvl="3" marL="18288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4pPr>
            <a:lvl5pPr indent="-304800" lvl="4" marL="22860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5pPr>
            <a:lvl6pPr indent="-304800" lvl="5" marL="27432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6pPr>
            <a:lvl7pPr indent="-304800" lvl="6" marL="32004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7pPr>
            <a:lvl8pPr indent="-304800" lvl="7" marL="36576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8pPr>
            <a:lvl9pPr indent="-304800" lvl="8" marL="4114800">
              <a:lnSpc>
                <a:spcPct val="100000"/>
              </a:lnSpc>
              <a:spcBef>
                <a:spcPts val="0"/>
              </a:spcBef>
              <a:spcAft>
                <a:spcPts val="0"/>
              </a:spcAft>
              <a:buClr>
                <a:schemeClr val="dk1"/>
              </a:buClr>
              <a:buSzPts val="1200"/>
              <a:buFont typeface="Blinker"/>
              <a:buChar char="■"/>
              <a:defRPr sz="1200">
                <a:solidFill>
                  <a:schemeClr val="dk1"/>
                </a:solidFill>
                <a:latin typeface="Blinker"/>
                <a:ea typeface="Blinker"/>
                <a:cs typeface="Blinker"/>
                <a:sym typeface="Blink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2.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17.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34.png"/><Relationship Id="rId5"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ctrTitle"/>
          </p:nvPr>
        </p:nvSpPr>
        <p:spPr>
          <a:xfrm>
            <a:off x="519000" y="2536550"/>
            <a:ext cx="8106000" cy="123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500">
                <a:solidFill>
                  <a:schemeClr val="lt2"/>
                </a:solidFill>
              </a:rPr>
              <a:t>Intelligent Video Anonymization:</a:t>
            </a:r>
            <a:r>
              <a:rPr lang="en"/>
              <a:t> </a:t>
            </a:r>
            <a:r>
              <a:rPr lang="en" sz="3200"/>
              <a:t>Face Detection, Recognition, and Blurring</a:t>
            </a:r>
            <a:endParaRPr sz="3200"/>
          </a:p>
        </p:txBody>
      </p:sp>
      <p:sp>
        <p:nvSpPr>
          <p:cNvPr id="132" name="Google Shape;132;p22"/>
          <p:cNvSpPr txBox="1"/>
          <p:nvPr>
            <p:ph idx="1" type="subTitle"/>
          </p:nvPr>
        </p:nvSpPr>
        <p:spPr>
          <a:xfrm>
            <a:off x="2307675" y="3696550"/>
            <a:ext cx="45288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dk2"/>
                </a:solidFill>
              </a:rPr>
              <a:t>SHIREEN ALIZA ALI       </a:t>
            </a:r>
            <a:r>
              <a:rPr b="1" lang="en" sz="1500">
                <a:solidFill>
                  <a:schemeClr val="dk2"/>
                </a:solidFill>
              </a:rPr>
              <a:t> 22BAI1095</a:t>
            </a:r>
            <a:endParaRPr b="1" sz="1500">
              <a:solidFill>
                <a:schemeClr val="dk2"/>
              </a:solidFill>
            </a:endParaRPr>
          </a:p>
        </p:txBody>
      </p:sp>
      <p:pic>
        <p:nvPicPr>
          <p:cNvPr id="133" name="Google Shape;133;p22"/>
          <p:cNvPicPr preferRelativeResize="0"/>
          <p:nvPr/>
        </p:nvPicPr>
        <p:blipFill>
          <a:blip r:embed="rId3">
            <a:alphaModFix/>
          </a:blip>
          <a:stretch>
            <a:fillRect/>
          </a:stretch>
        </p:blipFill>
        <p:spPr>
          <a:xfrm>
            <a:off x="2641999" y="58525"/>
            <a:ext cx="3860152" cy="2132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idx="1" type="subTitle"/>
          </p:nvPr>
        </p:nvSpPr>
        <p:spPr>
          <a:xfrm>
            <a:off x="1883600" y="1341775"/>
            <a:ext cx="36987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Introduction  &amp;  </a:t>
            </a:r>
            <a:r>
              <a:rPr lang="en"/>
              <a:t>Problem Statement  </a:t>
            </a:r>
            <a:endParaRPr/>
          </a:p>
        </p:txBody>
      </p:sp>
      <p:sp>
        <p:nvSpPr>
          <p:cNvPr id="139" name="Google Shape;139;p23"/>
          <p:cNvSpPr txBox="1"/>
          <p:nvPr>
            <p:ph idx="13" type="subTitle"/>
          </p:nvPr>
        </p:nvSpPr>
        <p:spPr>
          <a:xfrm>
            <a:off x="1883600" y="3003800"/>
            <a:ext cx="25320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Proposed Architecture</a:t>
            </a:r>
            <a:endParaRPr/>
          </a:p>
        </p:txBody>
      </p:sp>
      <p:sp>
        <p:nvSpPr>
          <p:cNvPr id="140" name="Google Shape;140;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able of contents</a:t>
            </a:r>
            <a:endParaRPr/>
          </a:p>
        </p:txBody>
      </p:sp>
      <p:sp>
        <p:nvSpPr>
          <p:cNvPr id="141" name="Google Shape;141;p23"/>
          <p:cNvSpPr txBox="1"/>
          <p:nvPr>
            <p:ph idx="2" type="title"/>
          </p:nvPr>
        </p:nvSpPr>
        <p:spPr>
          <a:xfrm>
            <a:off x="1148900" y="1341783"/>
            <a:ext cx="7347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42" name="Google Shape;142;p23"/>
          <p:cNvSpPr txBox="1"/>
          <p:nvPr>
            <p:ph idx="3" type="title"/>
          </p:nvPr>
        </p:nvSpPr>
        <p:spPr>
          <a:xfrm>
            <a:off x="1148900" y="3003791"/>
            <a:ext cx="7347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143" name="Google Shape;143;p23"/>
          <p:cNvSpPr txBox="1"/>
          <p:nvPr>
            <p:ph idx="4" type="title"/>
          </p:nvPr>
        </p:nvSpPr>
        <p:spPr>
          <a:xfrm>
            <a:off x="1142125" y="1875183"/>
            <a:ext cx="7347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44" name="Google Shape;144;p23"/>
          <p:cNvSpPr txBox="1"/>
          <p:nvPr>
            <p:ph idx="5" type="title"/>
          </p:nvPr>
        </p:nvSpPr>
        <p:spPr>
          <a:xfrm>
            <a:off x="1142125" y="3537191"/>
            <a:ext cx="7347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145" name="Google Shape;145;p23"/>
          <p:cNvSpPr txBox="1"/>
          <p:nvPr>
            <p:ph idx="6" type="title"/>
          </p:nvPr>
        </p:nvSpPr>
        <p:spPr>
          <a:xfrm>
            <a:off x="1142125" y="2408583"/>
            <a:ext cx="7347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146" name="Google Shape;146;p23"/>
          <p:cNvSpPr txBox="1"/>
          <p:nvPr>
            <p:ph idx="7" type="title"/>
          </p:nvPr>
        </p:nvSpPr>
        <p:spPr>
          <a:xfrm>
            <a:off x="1142125" y="4070591"/>
            <a:ext cx="7347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147" name="Google Shape;147;p23"/>
          <p:cNvSpPr txBox="1"/>
          <p:nvPr>
            <p:ph idx="8" type="subTitle"/>
          </p:nvPr>
        </p:nvSpPr>
        <p:spPr>
          <a:xfrm>
            <a:off x="1876825" y="1875175"/>
            <a:ext cx="25320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Literature Reviews</a:t>
            </a:r>
            <a:endParaRPr/>
          </a:p>
        </p:txBody>
      </p:sp>
      <p:sp>
        <p:nvSpPr>
          <p:cNvPr id="148" name="Google Shape;148;p23"/>
          <p:cNvSpPr txBox="1"/>
          <p:nvPr>
            <p:ph idx="9" type="subTitle"/>
          </p:nvPr>
        </p:nvSpPr>
        <p:spPr>
          <a:xfrm>
            <a:off x="1876825" y="2408575"/>
            <a:ext cx="29937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Base Paper &amp; LIterature Gaps</a:t>
            </a:r>
            <a:endParaRPr/>
          </a:p>
        </p:txBody>
      </p:sp>
      <p:sp>
        <p:nvSpPr>
          <p:cNvPr id="149" name="Google Shape;149;p23"/>
          <p:cNvSpPr txBox="1"/>
          <p:nvPr>
            <p:ph idx="14" type="subTitle"/>
          </p:nvPr>
        </p:nvSpPr>
        <p:spPr>
          <a:xfrm>
            <a:off x="1876825" y="3537200"/>
            <a:ext cx="33804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Module Description &amp; Results</a:t>
            </a:r>
            <a:endParaRPr/>
          </a:p>
        </p:txBody>
      </p:sp>
      <p:sp>
        <p:nvSpPr>
          <p:cNvPr id="150" name="Google Shape;150;p23"/>
          <p:cNvSpPr txBox="1"/>
          <p:nvPr>
            <p:ph idx="15" type="subTitle"/>
          </p:nvPr>
        </p:nvSpPr>
        <p:spPr>
          <a:xfrm>
            <a:off x="1876825" y="4070600"/>
            <a:ext cx="2532000" cy="45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References</a:t>
            </a:r>
            <a:endParaRPr/>
          </a:p>
        </p:txBody>
      </p:sp>
      <p:pic>
        <p:nvPicPr>
          <p:cNvPr id="151" name="Google Shape;151;p23"/>
          <p:cNvPicPr preferRelativeResize="0"/>
          <p:nvPr/>
        </p:nvPicPr>
        <p:blipFill>
          <a:blip r:embed="rId3">
            <a:alphaModFix/>
          </a:blip>
          <a:stretch>
            <a:fillRect/>
          </a:stretch>
        </p:blipFill>
        <p:spPr>
          <a:xfrm>
            <a:off x="4870385" y="1722781"/>
            <a:ext cx="3484180" cy="1828800"/>
          </a:xfrm>
          <a:prstGeom prst="rect">
            <a:avLst/>
          </a:prstGeom>
          <a:noFill/>
          <a:ln>
            <a:noFill/>
          </a:ln>
        </p:spPr>
      </p:pic>
      <p:pic>
        <p:nvPicPr>
          <p:cNvPr id="152" name="Google Shape;152;p23"/>
          <p:cNvPicPr preferRelativeResize="0"/>
          <p:nvPr/>
        </p:nvPicPr>
        <p:blipFill>
          <a:blip r:embed="rId4">
            <a:alphaModFix/>
          </a:blip>
          <a:stretch>
            <a:fillRect/>
          </a:stretch>
        </p:blipFill>
        <p:spPr>
          <a:xfrm>
            <a:off x="6867767" y="1106961"/>
            <a:ext cx="1457071" cy="1408175"/>
          </a:xfrm>
          <a:prstGeom prst="rect">
            <a:avLst/>
          </a:prstGeom>
          <a:noFill/>
          <a:ln>
            <a:noFill/>
          </a:ln>
        </p:spPr>
      </p:pic>
      <p:pic>
        <p:nvPicPr>
          <p:cNvPr id="153" name="Google Shape;153;p23"/>
          <p:cNvPicPr preferRelativeResize="0"/>
          <p:nvPr/>
        </p:nvPicPr>
        <p:blipFill>
          <a:blip r:embed="rId5">
            <a:alphaModFix/>
          </a:blip>
          <a:stretch>
            <a:fillRect/>
          </a:stretch>
        </p:blipFill>
        <p:spPr>
          <a:xfrm rot="5400000">
            <a:off x="4678534" y="1966100"/>
            <a:ext cx="997458" cy="1408176"/>
          </a:xfrm>
          <a:prstGeom prst="rect">
            <a:avLst/>
          </a:prstGeom>
          <a:noFill/>
          <a:ln>
            <a:noFill/>
          </a:ln>
        </p:spPr>
      </p:pic>
      <p:pic>
        <p:nvPicPr>
          <p:cNvPr id="154" name="Google Shape;154;p23"/>
          <p:cNvPicPr preferRelativeResize="0"/>
          <p:nvPr/>
        </p:nvPicPr>
        <p:blipFill>
          <a:blip r:embed="rId6">
            <a:alphaModFix/>
          </a:blip>
          <a:stretch>
            <a:fillRect/>
          </a:stretch>
        </p:blipFill>
        <p:spPr>
          <a:xfrm>
            <a:off x="7640978" y="3311950"/>
            <a:ext cx="922020" cy="9144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516275" y="422275"/>
            <a:ext cx="3657600" cy="58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Problem Statement</a:t>
            </a:r>
            <a:endParaRPr/>
          </a:p>
        </p:txBody>
      </p:sp>
      <p:sp>
        <p:nvSpPr>
          <p:cNvPr id="160" name="Google Shape;160;p24"/>
          <p:cNvSpPr txBox="1"/>
          <p:nvPr>
            <p:ph idx="1" type="subTitle"/>
          </p:nvPr>
        </p:nvSpPr>
        <p:spPr>
          <a:xfrm>
            <a:off x="381575" y="1005775"/>
            <a:ext cx="6003300" cy="1715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With the increasing use of video surveillance and the proliferation of video content online, </a:t>
            </a:r>
            <a:r>
              <a:rPr i="1" lang="en" sz="1500">
                <a:solidFill>
                  <a:schemeClr val="accent2"/>
                </a:solidFill>
              </a:rPr>
              <a:t>protecting the privacy of individuals</a:t>
            </a:r>
            <a:r>
              <a:rPr i="1" lang="en" sz="1500"/>
              <a:t> </a:t>
            </a:r>
            <a:r>
              <a:rPr lang="en" sz="1500"/>
              <a:t>captured in these videos has become a concern. </a:t>
            </a:r>
            <a:endParaRPr sz="1500"/>
          </a:p>
          <a:p>
            <a:pPr indent="-323850" lvl="0" marL="457200" rtl="0" algn="l">
              <a:spcBef>
                <a:spcPts val="0"/>
              </a:spcBef>
              <a:spcAft>
                <a:spcPts val="0"/>
              </a:spcAft>
              <a:buSzPts val="1500"/>
              <a:buAutoNum type="arabicPeriod"/>
            </a:pPr>
            <a:r>
              <a:rPr lang="en" sz="1500"/>
              <a:t>Traditional methods of anonymization are often manual, time-consuming, and prone to errors, making them insufficient for large-scale or real-time applications.</a:t>
            </a:r>
            <a:endParaRPr sz="1500"/>
          </a:p>
          <a:p>
            <a:pPr indent="0" lvl="0" marL="457200" rtl="0" algn="l">
              <a:spcBef>
                <a:spcPts val="1000"/>
              </a:spcBef>
              <a:spcAft>
                <a:spcPts val="1000"/>
              </a:spcAft>
              <a:buNone/>
            </a:pPr>
            <a:r>
              <a:t/>
            </a:r>
            <a:endParaRPr/>
          </a:p>
        </p:txBody>
      </p:sp>
      <p:sp>
        <p:nvSpPr>
          <p:cNvPr id="161" name="Google Shape;161;p24"/>
          <p:cNvSpPr txBox="1"/>
          <p:nvPr>
            <p:ph type="title"/>
          </p:nvPr>
        </p:nvSpPr>
        <p:spPr>
          <a:xfrm>
            <a:off x="6282450" y="2594175"/>
            <a:ext cx="3657600" cy="58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Scope</a:t>
            </a:r>
            <a:endParaRPr/>
          </a:p>
        </p:txBody>
      </p:sp>
      <p:sp>
        <p:nvSpPr>
          <p:cNvPr id="162" name="Google Shape;162;p24"/>
          <p:cNvSpPr txBox="1"/>
          <p:nvPr>
            <p:ph idx="1" type="subTitle"/>
          </p:nvPr>
        </p:nvSpPr>
        <p:spPr>
          <a:xfrm>
            <a:off x="3123025" y="3099125"/>
            <a:ext cx="5631900" cy="1715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This project aims to develop a generic and</a:t>
            </a:r>
            <a:r>
              <a:rPr i="1" lang="en" sz="1500"/>
              <a:t> customizable system</a:t>
            </a:r>
            <a:r>
              <a:rPr lang="en" sz="1500"/>
              <a:t> for video anonymization that automatically detects, recognizes, and blurs specific faces in videos. </a:t>
            </a:r>
            <a:endParaRPr sz="1500"/>
          </a:p>
          <a:p>
            <a:pPr indent="-323850" lvl="0" marL="457200" rtl="0" algn="l">
              <a:spcBef>
                <a:spcPts val="0"/>
              </a:spcBef>
              <a:spcAft>
                <a:spcPts val="0"/>
              </a:spcAft>
              <a:buSzPts val="1500"/>
              <a:buAutoNum type="arabicPeriod"/>
            </a:pPr>
            <a:r>
              <a:rPr lang="en" sz="1500"/>
              <a:t>The system will be designed to handle various use cases, including public surveillance, media publishing, and healthcare video recording.</a:t>
            </a:r>
            <a:endParaRPr sz="1500"/>
          </a:p>
        </p:txBody>
      </p:sp>
      <p:pic>
        <p:nvPicPr>
          <p:cNvPr id="163" name="Google Shape;163;p24"/>
          <p:cNvPicPr preferRelativeResize="0"/>
          <p:nvPr/>
        </p:nvPicPr>
        <p:blipFill>
          <a:blip r:embed="rId3">
            <a:alphaModFix/>
          </a:blip>
          <a:stretch>
            <a:fillRect/>
          </a:stretch>
        </p:blipFill>
        <p:spPr>
          <a:xfrm>
            <a:off x="6384875" y="757810"/>
            <a:ext cx="2370049" cy="1522720"/>
          </a:xfrm>
          <a:prstGeom prst="rect">
            <a:avLst/>
          </a:prstGeom>
          <a:noFill/>
          <a:ln>
            <a:noFill/>
          </a:ln>
        </p:spPr>
      </p:pic>
      <p:pic>
        <p:nvPicPr>
          <p:cNvPr id="164" name="Google Shape;164;p24"/>
          <p:cNvPicPr preferRelativeResize="0"/>
          <p:nvPr/>
        </p:nvPicPr>
        <p:blipFill>
          <a:blip r:embed="rId4">
            <a:alphaModFix/>
          </a:blip>
          <a:stretch>
            <a:fillRect/>
          </a:stretch>
        </p:blipFill>
        <p:spPr>
          <a:xfrm>
            <a:off x="916302" y="2956863"/>
            <a:ext cx="1969227" cy="1371600"/>
          </a:xfrm>
          <a:prstGeom prst="rect">
            <a:avLst/>
          </a:prstGeom>
          <a:noFill/>
          <a:ln>
            <a:noFill/>
          </a:ln>
        </p:spPr>
      </p:pic>
      <p:pic>
        <p:nvPicPr>
          <p:cNvPr id="165" name="Google Shape;165;p24"/>
          <p:cNvPicPr preferRelativeResize="0"/>
          <p:nvPr/>
        </p:nvPicPr>
        <p:blipFill>
          <a:blip r:embed="rId5">
            <a:alphaModFix/>
          </a:blip>
          <a:stretch>
            <a:fillRect/>
          </a:stretch>
        </p:blipFill>
        <p:spPr>
          <a:xfrm>
            <a:off x="381574" y="2721175"/>
            <a:ext cx="685800" cy="914401"/>
          </a:xfrm>
          <a:prstGeom prst="rect">
            <a:avLst/>
          </a:prstGeom>
          <a:noFill/>
          <a:ln>
            <a:noFill/>
          </a:ln>
        </p:spPr>
      </p:pic>
      <p:pic>
        <p:nvPicPr>
          <p:cNvPr id="166" name="Google Shape;166;p24"/>
          <p:cNvPicPr preferRelativeResize="0"/>
          <p:nvPr/>
        </p:nvPicPr>
        <p:blipFill>
          <a:blip r:embed="rId6">
            <a:alphaModFix/>
          </a:blip>
          <a:stretch>
            <a:fillRect/>
          </a:stretch>
        </p:blipFill>
        <p:spPr>
          <a:xfrm rot="-5400000">
            <a:off x="2413927" y="3919452"/>
            <a:ext cx="647699" cy="9143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516275" y="422275"/>
            <a:ext cx="3657600" cy="58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172" name="Google Shape;172;p25"/>
          <p:cNvSpPr txBox="1"/>
          <p:nvPr>
            <p:ph idx="1" type="subTitle"/>
          </p:nvPr>
        </p:nvSpPr>
        <p:spPr>
          <a:xfrm>
            <a:off x="381575" y="869450"/>
            <a:ext cx="5013900" cy="3640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highlight>
                  <a:schemeClr val="lt1"/>
                </a:highlight>
              </a:rPr>
              <a:t>The system takes as </a:t>
            </a:r>
            <a:r>
              <a:rPr b="1" lang="en" sz="1500">
                <a:highlight>
                  <a:schemeClr val="lt1"/>
                </a:highlight>
              </a:rPr>
              <a:t>input </a:t>
            </a:r>
            <a:r>
              <a:rPr lang="en" sz="1500">
                <a:highlight>
                  <a:schemeClr val="lt1"/>
                </a:highlight>
              </a:rPr>
              <a:t>a </a:t>
            </a:r>
            <a:r>
              <a:rPr i="1" lang="en" sz="1500">
                <a:highlight>
                  <a:schemeClr val="lt1"/>
                </a:highlight>
              </a:rPr>
              <a:t>video file</a:t>
            </a:r>
            <a:r>
              <a:rPr lang="en" sz="1500">
                <a:highlight>
                  <a:schemeClr val="lt1"/>
                </a:highlight>
              </a:rPr>
              <a:t> containing multiple individuals and a </a:t>
            </a:r>
            <a:r>
              <a:rPr i="1" lang="en" sz="1500">
                <a:highlight>
                  <a:schemeClr val="lt1"/>
                </a:highlight>
              </a:rPr>
              <a:t>reference image</a:t>
            </a:r>
            <a:r>
              <a:rPr lang="en" sz="1500">
                <a:highlight>
                  <a:schemeClr val="lt1"/>
                </a:highlight>
              </a:rPr>
              <a:t> of the face to be anonymized. </a:t>
            </a:r>
            <a:endParaRPr sz="1500">
              <a:highlight>
                <a:schemeClr val="lt1"/>
              </a:highlight>
            </a:endParaRPr>
          </a:p>
          <a:p>
            <a:pPr indent="-323850" lvl="0" marL="457200" rtl="0" algn="l">
              <a:spcBef>
                <a:spcPts val="0"/>
              </a:spcBef>
              <a:spcAft>
                <a:spcPts val="0"/>
              </a:spcAft>
              <a:buSzPts val="1500"/>
              <a:buAutoNum type="arabicPeriod"/>
            </a:pPr>
            <a:r>
              <a:rPr lang="en" sz="1500">
                <a:highlight>
                  <a:schemeClr val="lt1"/>
                </a:highlight>
              </a:rPr>
              <a:t>The video is processed frame by frame, where </a:t>
            </a:r>
            <a:r>
              <a:rPr i="1" lang="en" sz="1500">
                <a:highlight>
                  <a:schemeClr val="lt1"/>
                </a:highlight>
              </a:rPr>
              <a:t>faces are detected</a:t>
            </a:r>
            <a:r>
              <a:rPr lang="en" sz="1500">
                <a:highlight>
                  <a:schemeClr val="lt1"/>
                </a:highlight>
              </a:rPr>
              <a:t> using</a:t>
            </a:r>
            <a:r>
              <a:rPr b="1" lang="en" sz="1500">
                <a:highlight>
                  <a:schemeClr val="lt1"/>
                </a:highlight>
              </a:rPr>
              <a:t> MTCNN</a:t>
            </a:r>
            <a:r>
              <a:rPr lang="en" sz="1500">
                <a:highlight>
                  <a:schemeClr val="lt1"/>
                </a:highlight>
              </a:rPr>
              <a:t>, and the detected </a:t>
            </a:r>
            <a:r>
              <a:rPr i="1" lang="en" sz="1500">
                <a:highlight>
                  <a:schemeClr val="lt1"/>
                </a:highlight>
              </a:rPr>
              <a:t>faces are compared</a:t>
            </a:r>
            <a:r>
              <a:rPr lang="en" sz="1500">
                <a:highlight>
                  <a:schemeClr val="lt1"/>
                </a:highlight>
              </a:rPr>
              <a:t> with the reference image using </a:t>
            </a:r>
            <a:r>
              <a:rPr b="1" lang="en" sz="1500">
                <a:highlight>
                  <a:schemeClr val="lt1"/>
                </a:highlight>
              </a:rPr>
              <a:t>FaceNet</a:t>
            </a:r>
            <a:r>
              <a:rPr lang="en" sz="1500">
                <a:highlight>
                  <a:schemeClr val="lt1"/>
                </a:highlight>
              </a:rPr>
              <a:t> </a:t>
            </a:r>
            <a:r>
              <a:rPr i="1" lang="en" sz="1500">
                <a:highlight>
                  <a:schemeClr val="lt1"/>
                </a:highlight>
              </a:rPr>
              <a:t>embeddings</a:t>
            </a:r>
            <a:r>
              <a:rPr lang="en" sz="1500">
                <a:highlight>
                  <a:schemeClr val="lt1"/>
                </a:highlight>
              </a:rPr>
              <a:t>.</a:t>
            </a:r>
            <a:endParaRPr sz="1500">
              <a:highlight>
                <a:schemeClr val="lt1"/>
              </a:highlight>
            </a:endParaRPr>
          </a:p>
          <a:p>
            <a:pPr indent="-323850" lvl="0" marL="457200" rtl="0" algn="l">
              <a:spcBef>
                <a:spcPts val="0"/>
              </a:spcBef>
              <a:spcAft>
                <a:spcPts val="0"/>
              </a:spcAft>
              <a:buSzPts val="1500"/>
              <a:buAutoNum type="arabicPeriod"/>
            </a:pPr>
            <a:r>
              <a:rPr lang="en" sz="1500">
                <a:highlight>
                  <a:schemeClr val="lt1"/>
                </a:highlight>
              </a:rPr>
              <a:t>If a match is found, the corresponding face in the frame is blurred using a </a:t>
            </a:r>
            <a:r>
              <a:rPr b="1" lang="en" sz="1500">
                <a:highlight>
                  <a:schemeClr val="lt1"/>
                </a:highlight>
              </a:rPr>
              <a:t>Gaussian blur technique</a:t>
            </a:r>
            <a:r>
              <a:rPr lang="en" sz="1500">
                <a:highlight>
                  <a:schemeClr val="lt1"/>
                </a:highlight>
              </a:rPr>
              <a:t>. </a:t>
            </a:r>
            <a:endParaRPr sz="1500">
              <a:highlight>
                <a:schemeClr val="lt1"/>
              </a:highlight>
            </a:endParaRPr>
          </a:p>
          <a:p>
            <a:pPr indent="-323850" lvl="0" marL="457200" rtl="0" algn="l">
              <a:spcBef>
                <a:spcPts val="0"/>
              </a:spcBef>
              <a:spcAft>
                <a:spcPts val="0"/>
              </a:spcAft>
              <a:buSzPts val="1500"/>
              <a:buAutoNum type="arabicPeriod"/>
            </a:pPr>
            <a:r>
              <a:rPr lang="en" sz="1500">
                <a:highlight>
                  <a:schemeClr val="lt1"/>
                </a:highlight>
              </a:rPr>
              <a:t>The </a:t>
            </a:r>
            <a:r>
              <a:rPr b="1" lang="en" sz="1500">
                <a:highlight>
                  <a:schemeClr val="lt1"/>
                </a:highlight>
              </a:rPr>
              <a:t>output</a:t>
            </a:r>
            <a:r>
              <a:rPr lang="en" sz="1500">
                <a:highlight>
                  <a:schemeClr val="lt1"/>
                </a:highlight>
              </a:rPr>
              <a:t> is a </a:t>
            </a:r>
            <a:r>
              <a:rPr i="1" lang="en" sz="1500">
                <a:highlight>
                  <a:schemeClr val="lt1"/>
                </a:highlight>
              </a:rPr>
              <a:t>processed video file</a:t>
            </a:r>
            <a:r>
              <a:rPr lang="en" sz="1500">
                <a:highlight>
                  <a:schemeClr val="lt1"/>
                </a:highlight>
              </a:rPr>
              <a:t> in which only the </a:t>
            </a:r>
            <a:r>
              <a:rPr lang="en" sz="1500">
                <a:highlight>
                  <a:schemeClr val="accent3"/>
                </a:highlight>
              </a:rPr>
              <a:t>specified face has been anonymized</a:t>
            </a:r>
            <a:r>
              <a:rPr lang="en" sz="1500">
                <a:highlight>
                  <a:schemeClr val="lt1"/>
                </a:highlight>
              </a:rPr>
              <a:t> while leaving all other faces intact, ensuring privacy while preserving the overall context of the video.</a:t>
            </a:r>
            <a:endParaRPr sz="1500">
              <a:highlight>
                <a:schemeClr val="lt1"/>
              </a:highlight>
            </a:endParaRPr>
          </a:p>
          <a:p>
            <a:pPr indent="0" lvl="0" marL="457200" rtl="0" algn="l">
              <a:spcBef>
                <a:spcPts val="1000"/>
              </a:spcBef>
              <a:spcAft>
                <a:spcPts val="1000"/>
              </a:spcAft>
              <a:buNone/>
            </a:pPr>
            <a:r>
              <a:t/>
            </a:r>
            <a:endParaRPr>
              <a:highlight>
                <a:schemeClr val="lt1"/>
              </a:highlight>
            </a:endParaRPr>
          </a:p>
        </p:txBody>
      </p:sp>
      <p:pic>
        <p:nvPicPr>
          <p:cNvPr id="173" name="Google Shape;173;p25"/>
          <p:cNvPicPr preferRelativeResize="0"/>
          <p:nvPr/>
        </p:nvPicPr>
        <p:blipFill>
          <a:blip r:embed="rId3">
            <a:alphaModFix/>
          </a:blip>
          <a:stretch>
            <a:fillRect/>
          </a:stretch>
        </p:blipFill>
        <p:spPr>
          <a:xfrm>
            <a:off x="6350691" y="370200"/>
            <a:ext cx="2269970" cy="1283026"/>
          </a:xfrm>
          <a:prstGeom prst="rect">
            <a:avLst/>
          </a:prstGeom>
          <a:noFill/>
          <a:ln>
            <a:noFill/>
          </a:ln>
        </p:spPr>
      </p:pic>
      <p:pic>
        <p:nvPicPr>
          <p:cNvPr id="174" name="Google Shape;174;p25"/>
          <p:cNvPicPr preferRelativeResize="0"/>
          <p:nvPr/>
        </p:nvPicPr>
        <p:blipFill rotWithShape="1">
          <a:blip r:embed="rId4">
            <a:alphaModFix/>
          </a:blip>
          <a:srcRect b="0" l="0" r="0" t="0"/>
          <a:stretch/>
        </p:blipFill>
        <p:spPr>
          <a:xfrm>
            <a:off x="6394051" y="3350625"/>
            <a:ext cx="2269950" cy="1280269"/>
          </a:xfrm>
          <a:prstGeom prst="rect">
            <a:avLst/>
          </a:prstGeom>
          <a:noFill/>
          <a:ln>
            <a:noFill/>
          </a:ln>
        </p:spPr>
      </p:pic>
      <p:pic>
        <p:nvPicPr>
          <p:cNvPr id="175" name="Google Shape;175;p25"/>
          <p:cNvPicPr preferRelativeResize="0"/>
          <p:nvPr/>
        </p:nvPicPr>
        <p:blipFill>
          <a:blip r:embed="rId5">
            <a:alphaModFix/>
          </a:blip>
          <a:stretch>
            <a:fillRect/>
          </a:stretch>
        </p:blipFill>
        <p:spPr>
          <a:xfrm>
            <a:off x="5680250" y="1874100"/>
            <a:ext cx="1050500" cy="1140550"/>
          </a:xfrm>
          <a:prstGeom prst="rect">
            <a:avLst/>
          </a:prstGeom>
          <a:noFill/>
          <a:ln>
            <a:noFill/>
          </a:ln>
        </p:spPr>
      </p:pic>
      <p:sp>
        <p:nvSpPr>
          <p:cNvPr id="176" name="Google Shape;176;p25"/>
          <p:cNvSpPr txBox="1"/>
          <p:nvPr/>
        </p:nvSpPr>
        <p:spPr>
          <a:xfrm>
            <a:off x="5219400" y="3014638"/>
            <a:ext cx="209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Blinker"/>
                <a:ea typeface="Blinker"/>
                <a:cs typeface="Blinker"/>
                <a:sym typeface="Blinker"/>
              </a:rPr>
              <a:t>Fig 01. Input Reference Image</a:t>
            </a:r>
            <a:endParaRPr sz="1200">
              <a:solidFill>
                <a:schemeClr val="dk1"/>
              </a:solidFill>
              <a:latin typeface="Blinker"/>
              <a:ea typeface="Blinker"/>
              <a:cs typeface="Blinker"/>
              <a:sym typeface="Blinker"/>
            </a:endParaRPr>
          </a:p>
        </p:txBody>
      </p:sp>
      <p:sp>
        <p:nvSpPr>
          <p:cNvPr id="177" name="Google Shape;177;p25"/>
          <p:cNvSpPr txBox="1"/>
          <p:nvPr/>
        </p:nvSpPr>
        <p:spPr>
          <a:xfrm>
            <a:off x="6527400" y="4566600"/>
            <a:ext cx="2090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Blinker"/>
                <a:ea typeface="Blinker"/>
                <a:cs typeface="Blinker"/>
                <a:sym typeface="Blinker"/>
              </a:rPr>
              <a:t>Fig 02. Sample output frame </a:t>
            </a:r>
            <a:endParaRPr sz="1200">
              <a:solidFill>
                <a:schemeClr val="dk1"/>
              </a:solidFill>
              <a:latin typeface="Blinker"/>
              <a:ea typeface="Blinker"/>
              <a:cs typeface="Blinker"/>
              <a:sym typeface="Blinker"/>
            </a:endParaRPr>
          </a:p>
        </p:txBody>
      </p:sp>
      <p:cxnSp>
        <p:nvCxnSpPr>
          <p:cNvPr id="178" name="Google Shape;178;p25"/>
          <p:cNvCxnSpPr>
            <a:stCxn id="173" idx="2"/>
            <a:endCxn id="174" idx="0"/>
          </p:cNvCxnSpPr>
          <p:nvPr/>
        </p:nvCxnSpPr>
        <p:spPr>
          <a:xfrm>
            <a:off x="7485676" y="1653226"/>
            <a:ext cx="43200" cy="1697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6"/>
          <p:cNvSpPr txBox="1"/>
          <p:nvPr>
            <p:ph idx="4" type="subTitle"/>
          </p:nvPr>
        </p:nvSpPr>
        <p:spPr>
          <a:xfrm>
            <a:off x="696525" y="326000"/>
            <a:ext cx="6391800" cy="53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Literature Reviews </a:t>
            </a:r>
            <a:r>
              <a:rPr lang="en"/>
              <a:t> &amp; </a:t>
            </a:r>
            <a:r>
              <a:rPr lang="en"/>
              <a:t>Existing Methods </a:t>
            </a:r>
            <a:endParaRPr/>
          </a:p>
        </p:txBody>
      </p:sp>
      <p:sp>
        <p:nvSpPr>
          <p:cNvPr id="184" name="Google Shape;184;p26"/>
          <p:cNvSpPr txBox="1"/>
          <p:nvPr>
            <p:ph idx="2" type="subTitle"/>
          </p:nvPr>
        </p:nvSpPr>
        <p:spPr>
          <a:xfrm>
            <a:off x="453825" y="900225"/>
            <a:ext cx="6999300" cy="1109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accent2"/>
              </a:buClr>
              <a:buSzPts val="1500"/>
              <a:buAutoNum type="arabicPeriod"/>
            </a:pPr>
            <a:r>
              <a:rPr lang="en" sz="1500"/>
              <a:t>The field of video anonymization has evolved significantly over the years, with various approaches being proposed to tackle the challenge of privacy protection.</a:t>
            </a:r>
            <a:endParaRPr sz="1500"/>
          </a:p>
          <a:p>
            <a:pPr indent="0" lvl="0" marL="457200" rtl="0" algn="l">
              <a:spcBef>
                <a:spcPts val="0"/>
              </a:spcBef>
              <a:spcAft>
                <a:spcPts val="0"/>
              </a:spcAft>
              <a:buNone/>
            </a:pPr>
            <a:r>
              <a:t/>
            </a:r>
            <a:endParaRPr sz="1500"/>
          </a:p>
          <a:p>
            <a:pPr indent="0" lvl="0" marL="457200" rtl="0" algn="l">
              <a:spcBef>
                <a:spcPts val="0"/>
              </a:spcBef>
              <a:spcAft>
                <a:spcPts val="0"/>
              </a:spcAft>
              <a:buNone/>
            </a:pPr>
            <a:r>
              <a:t/>
            </a:r>
            <a:endParaRPr sz="1500"/>
          </a:p>
        </p:txBody>
      </p:sp>
      <p:pic>
        <p:nvPicPr>
          <p:cNvPr id="185" name="Google Shape;185;p26"/>
          <p:cNvPicPr preferRelativeResize="0"/>
          <p:nvPr/>
        </p:nvPicPr>
        <p:blipFill>
          <a:blip r:embed="rId3">
            <a:alphaModFix/>
          </a:blip>
          <a:stretch>
            <a:fillRect/>
          </a:stretch>
        </p:blipFill>
        <p:spPr>
          <a:xfrm>
            <a:off x="7089825" y="326009"/>
            <a:ext cx="1664174" cy="871599"/>
          </a:xfrm>
          <a:prstGeom prst="rect">
            <a:avLst/>
          </a:prstGeom>
          <a:noFill/>
          <a:ln>
            <a:noFill/>
          </a:ln>
        </p:spPr>
      </p:pic>
      <p:sp>
        <p:nvSpPr>
          <p:cNvPr id="186" name="Google Shape;186;p26"/>
          <p:cNvSpPr txBox="1"/>
          <p:nvPr/>
        </p:nvSpPr>
        <p:spPr>
          <a:xfrm>
            <a:off x="461850" y="1595475"/>
            <a:ext cx="8220300" cy="3639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accent2"/>
              </a:buClr>
              <a:buSzPts val="1600"/>
              <a:buFont typeface="Blinker"/>
              <a:buAutoNum type="arabicPeriod"/>
            </a:pPr>
            <a:r>
              <a:rPr lang="en" sz="1500">
                <a:solidFill>
                  <a:schemeClr val="dk1"/>
                </a:solidFill>
                <a:latin typeface="Blinker"/>
                <a:ea typeface="Blinker"/>
                <a:cs typeface="Blinker"/>
                <a:sym typeface="Blinker"/>
              </a:rPr>
              <a:t>Traditional methods include</a:t>
            </a:r>
            <a:r>
              <a:rPr b="1" lang="en" sz="1500">
                <a:solidFill>
                  <a:schemeClr val="dk1"/>
                </a:solidFill>
                <a:latin typeface="Blinker"/>
                <a:ea typeface="Blinker"/>
                <a:cs typeface="Blinker"/>
                <a:sym typeface="Blinker"/>
              </a:rPr>
              <a:t> </a:t>
            </a:r>
            <a:r>
              <a:rPr i="1" lang="en" sz="1500">
                <a:solidFill>
                  <a:schemeClr val="dk1"/>
                </a:solidFill>
                <a:latin typeface="Blinker"/>
                <a:ea typeface="Blinker"/>
                <a:cs typeface="Blinker"/>
                <a:sym typeface="Blinker"/>
              </a:rPr>
              <a:t>manual editing</a:t>
            </a:r>
            <a:r>
              <a:rPr lang="en" sz="1500">
                <a:solidFill>
                  <a:schemeClr val="dk1"/>
                </a:solidFill>
                <a:latin typeface="Blinker"/>
                <a:ea typeface="Blinker"/>
                <a:cs typeface="Blinker"/>
                <a:sym typeface="Blinker"/>
              </a:rPr>
              <a:t>, where faces are blurred or masked frame by frame, which is labor-intensive and inefficient. </a:t>
            </a:r>
            <a:endParaRPr sz="1500">
              <a:solidFill>
                <a:schemeClr val="dk1"/>
              </a:solidFill>
              <a:latin typeface="Blinker"/>
              <a:ea typeface="Blinker"/>
              <a:cs typeface="Blinker"/>
              <a:sym typeface="Blinker"/>
            </a:endParaRPr>
          </a:p>
          <a:p>
            <a:pPr indent="0" lvl="0" marL="0" rtl="0" algn="l">
              <a:spcBef>
                <a:spcPts val="0"/>
              </a:spcBef>
              <a:spcAft>
                <a:spcPts val="0"/>
              </a:spcAft>
              <a:buNone/>
            </a:pPr>
            <a:r>
              <a:t/>
            </a:r>
            <a:endParaRPr sz="1500">
              <a:solidFill>
                <a:schemeClr val="dk1"/>
              </a:solidFill>
              <a:latin typeface="Blinker"/>
              <a:ea typeface="Blinker"/>
              <a:cs typeface="Blinker"/>
              <a:sym typeface="Blinker"/>
            </a:endParaRPr>
          </a:p>
          <a:p>
            <a:pPr indent="-330200" lvl="0" marL="457200" rtl="0" algn="l">
              <a:spcBef>
                <a:spcPts val="0"/>
              </a:spcBef>
              <a:spcAft>
                <a:spcPts val="0"/>
              </a:spcAft>
              <a:buClr>
                <a:schemeClr val="accent2"/>
              </a:buClr>
              <a:buSzPts val="1600"/>
              <a:buFont typeface="Blinker"/>
              <a:buAutoNum type="arabicPeriod"/>
            </a:pPr>
            <a:r>
              <a:rPr lang="en" sz="1500">
                <a:solidFill>
                  <a:schemeClr val="dk1"/>
                </a:solidFill>
                <a:latin typeface="Blinker"/>
                <a:ea typeface="Blinker"/>
                <a:cs typeface="Blinker"/>
                <a:sym typeface="Blinker"/>
              </a:rPr>
              <a:t>Techniques such as</a:t>
            </a:r>
            <a:r>
              <a:rPr b="1" lang="en" sz="1500">
                <a:solidFill>
                  <a:schemeClr val="lt2"/>
                </a:solidFill>
                <a:latin typeface="Blinker"/>
                <a:ea typeface="Blinker"/>
                <a:cs typeface="Blinker"/>
                <a:sym typeface="Blinker"/>
              </a:rPr>
              <a:t> Haar Cascades, HOG + SVM,</a:t>
            </a:r>
            <a:r>
              <a:rPr lang="en" sz="1500">
                <a:solidFill>
                  <a:schemeClr val="dk1"/>
                </a:solidFill>
                <a:latin typeface="Blinker"/>
                <a:ea typeface="Blinker"/>
                <a:cs typeface="Blinker"/>
                <a:sym typeface="Blinker"/>
              </a:rPr>
              <a:t> and more recently,</a:t>
            </a:r>
            <a:r>
              <a:rPr b="1" lang="en" sz="1500">
                <a:solidFill>
                  <a:schemeClr val="lt2"/>
                </a:solidFill>
                <a:latin typeface="Blinker"/>
                <a:ea typeface="Blinker"/>
                <a:cs typeface="Blinker"/>
                <a:sym typeface="Blinker"/>
              </a:rPr>
              <a:t> Convolutional Neural Networks (CNNs)</a:t>
            </a:r>
            <a:r>
              <a:rPr b="1" lang="en" sz="1500">
                <a:solidFill>
                  <a:schemeClr val="dk1"/>
                </a:solidFill>
                <a:latin typeface="Blinker"/>
                <a:ea typeface="Blinker"/>
                <a:cs typeface="Blinker"/>
                <a:sym typeface="Blinker"/>
              </a:rPr>
              <a:t> </a:t>
            </a:r>
            <a:r>
              <a:rPr lang="en" sz="1500">
                <a:solidFill>
                  <a:schemeClr val="dk1"/>
                </a:solidFill>
                <a:latin typeface="Blinker"/>
                <a:ea typeface="Blinker"/>
                <a:cs typeface="Blinker"/>
                <a:sym typeface="Blinker"/>
              </a:rPr>
              <a:t>have been employed for face detection, while models like </a:t>
            </a:r>
            <a:r>
              <a:rPr b="1" lang="en" sz="1500">
                <a:solidFill>
                  <a:schemeClr val="lt2"/>
                </a:solidFill>
                <a:latin typeface="Blinker"/>
                <a:ea typeface="Blinker"/>
                <a:cs typeface="Blinker"/>
                <a:sym typeface="Blinker"/>
              </a:rPr>
              <a:t>FaceNet</a:t>
            </a:r>
            <a:r>
              <a:rPr lang="en" sz="1500">
                <a:solidFill>
                  <a:schemeClr val="dk1"/>
                </a:solidFill>
                <a:latin typeface="Blinker"/>
                <a:ea typeface="Blinker"/>
                <a:cs typeface="Blinker"/>
                <a:sym typeface="Blinker"/>
              </a:rPr>
              <a:t> and </a:t>
            </a:r>
            <a:r>
              <a:rPr b="1" lang="en" sz="1500">
                <a:solidFill>
                  <a:schemeClr val="lt2"/>
                </a:solidFill>
                <a:latin typeface="Blinker"/>
                <a:ea typeface="Blinker"/>
                <a:cs typeface="Blinker"/>
                <a:sym typeface="Blinker"/>
              </a:rPr>
              <a:t>DeepFace</a:t>
            </a:r>
            <a:r>
              <a:rPr lang="en" sz="1500">
                <a:solidFill>
                  <a:schemeClr val="dk1"/>
                </a:solidFill>
                <a:latin typeface="Blinker"/>
                <a:ea typeface="Blinker"/>
                <a:cs typeface="Blinker"/>
                <a:sym typeface="Blinker"/>
              </a:rPr>
              <a:t> have shown remarkable accuracy in face recognition. </a:t>
            </a:r>
            <a:endParaRPr sz="1500">
              <a:solidFill>
                <a:schemeClr val="dk1"/>
              </a:solidFill>
              <a:latin typeface="Blinker"/>
              <a:ea typeface="Blinker"/>
              <a:cs typeface="Blinker"/>
              <a:sym typeface="Blinker"/>
            </a:endParaRPr>
          </a:p>
          <a:p>
            <a:pPr indent="0" lvl="0" marL="457200" rtl="0" algn="l">
              <a:spcBef>
                <a:spcPts val="0"/>
              </a:spcBef>
              <a:spcAft>
                <a:spcPts val="0"/>
              </a:spcAft>
              <a:buNone/>
            </a:pPr>
            <a:r>
              <a:t/>
            </a:r>
            <a:endParaRPr sz="1500">
              <a:solidFill>
                <a:schemeClr val="dk1"/>
              </a:solidFill>
              <a:latin typeface="Blinker"/>
              <a:ea typeface="Blinker"/>
              <a:cs typeface="Blinker"/>
              <a:sym typeface="Blinker"/>
            </a:endParaRPr>
          </a:p>
          <a:p>
            <a:pPr indent="-330200" lvl="0" marL="457200" rtl="0" algn="l">
              <a:lnSpc>
                <a:spcPct val="115000"/>
              </a:lnSpc>
              <a:spcBef>
                <a:spcPts val="1200"/>
              </a:spcBef>
              <a:spcAft>
                <a:spcPts val="0"/>
              </a:spcAft>
              <a:buClr>
                <a:schemeClr val="accent2"/>
              </a:buClr>
              <a:buSzPts val="1600"/>
              <a:buFont typeface="Blinker"/>
              <a:buAutoNum type="arabicPeriod"/>
            </a:pPr>
            <a:r>
              <a:rPr lang="en" sz="1500">
                <a:solidFill>
                  <a:schemeClr val="dk1"/>
                </a:solidFill>
                <a:latin typeface="Blinker"/>
                <a:ea typeface="Blinker"/>
                <a:cs typeface="Blinker"/>
                <a:sym typeface="Blinker"/>
              </a:rPr>
              <a:t>Existing video anonymization methods typically fall into two categories: </a:t>
            </a:r>
            <a:r>
              <a:rPr b="1" lang="en" sz="1500">
                <a:solidFill>
                  <a:schemeClr val="dk2"/>
                </a:solidFill>
                <a:latin typeface="Blinker"/>
                <a:ea typeface="Blinker"/>
                <a:cs typeface="Blinker"/>
                <a:sym typeface="Blinker"/>
              </a:rPr>
              <a:t>manual editing</a:t>
            </a:r>
            <a:r>
              <a:rPr lang="en" sz="1500">
                <a:solidFill>
                  <a:schemeClr val="dk1"/>
                </a:solidFill>
                <a:latin typeface="Blinker"/>
                <a:ea typeface="Blinker"/>
                <a:cs typeface="Blinker"/>
                <a:sym typeface="Blinker"/>
              </a:rPr>
              <a:t> and </a:t>
            </a:r>
            <a:r>
              <a:rPr b="1" lang="en" sz="1500">
                <a:solidFill>
                  <a:schemeClr val="dk2"/>
                </a:solidFill>
                <a:latin typeface="Blinker"/>
                <a:ea typeface="Blinker"/>
                <a:cs typeface="Blinker"/>
                <a:sym typeface="Blinker"/>
              </a:rPr>
              <a:t>automated systems</a:t>
            </a:r>
            <a:r>
              <a:rPr lang="en" sz="1500">
                <a:solidFill>
                  <a:schemeClr val="dk1"/>
                </a:solidFill>
                <a:latin typeface="Blinker"/>
                <a:ea typeface="Blinker"/>
                <a:cs typeface="Blinker"/>
                <a:sym typeface="Blinker"/>
              </a:rPr>
              <a:t>. Manual methods are highly accurate but are time-consuming and not scalable for large datasets or real-time processing. Moreover, many automated systems do not allow for selective anonymization, where only specific faces are blurred, leading to over-censorship or under-censorship.</a:t>
            </a:r>
            <a:endParaRPr sz="1500">
              <a:solidFill>
                <a:schemeClr val="dk1"/>
              </a:solidFill>
              <a:latin typeface="Blinker"/>
              <a:ea typeface="Blinker"/>
              <a:cs typeface="Blinker"/>
              <a:sym typeface="Blinker"/>
            </a:endParaRPr>
          </a:p>
          <a:p>
            <a:pPr indent="0" lvl="0" marL="457200" rtl="0" algn="l">
              <a:spcBef>
                <a:spcPts val="1200"/>
              </a:spcBef>
              <a:spcAft>
                <a:spcPts val="0"/>
              </a:spcAft>
              <a:buNone/>
            </a:pPr>
            <a:r>
              <a:t/>
            </a:r>
            <a:endParaRPr sz="1500">
              <a:solidFill>
                <a:schemeClr val="dk1"/>
              </a:solidFill>
              <a:latin typeface="Blinker"/>
              <a:ea typeface="Blinker"/>
              <a:cs typeface="Blinker"/>
              <a:sym typeface="Blinker"/>
            </a:endParaRPr>
          </a:p>
          <a:p>
            <a:pPr indent="0" lvl="0" marL="0" rtl="0" algn="l">
              <a:spcBef>
                <a:spcPts val="0"/>
              </a:spcBef>
              <a:spcAft>
                <a:spcPts val="0"/>
              </a:spcAft>
              <a:buNone/>
            </a:pPr>
            <a:r>
              <a:t/>
            </a:r>
            <a:endParaRPr sz="1200">
              <a:solidFill>
                <a:schemeClr val="dk1"/>
              </a:solidFill>
              <a:latin typeface="Blinker"/>
              <a:ea typeface="Blinker"/>
              <a:cs typeface="Blinker"/>
              <a:sym typeface="Blink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2172451" y="383250"/>
            <a:ext cx="47991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Base Paper &amp; Research Gaps</a:t>
            </a:r>
            <a:endParaRPr/>
          </a:p>
        </p:txBody>
      </p:sp>
      <p:sp>
        <p:nvSpPr>
          <p:cNvPr id="192" name="Google Shape;192;p27"/>
          <p:cNvSpPr txBox="1"/>
          <p:nvPr>
            <p:ph idx="1" type="subTitle"/>
          </p:nvPr>
        </p:nvSpPr>
        <p:spPr>
          <a:xfrm>
            <a:off x="1287675" y="931952"/>
            <a:ext cx="7481100" cy="10857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b="1">
              <a:solidFill>
                <a:schemeClr val="accent2"/>
              </a:solidFill>
            </a:endParaRPr>
          </a:p>
          <a:p>
            <a:pPr indent="0" lvl="0" marL="457200" rtl="0" algn="l">
              <a:spcBef>
                <a:spcPts val="0"/>
              </a:spcBef>
              <a:spcAft>
                <a:spcPts val="0"/>
              </a:spcAft>
              <a:buNone/>
            </a:pPr>
            <a:r>
              <a:rPr b="1" lang="en">
                <a:solidFill>
                  <a:schemeClr val="accent2"/>
                </a:solidFill>
              </a:rPr>
              <a:t>Yang, K., Yau, J.H., Fei-Fei, L., Deng, J. &amp;amp; Russakovsky, O.. (2022). A Study of Face Obfuscation in ImageNet. &lt;i&gt;Proceedings of the 39th International Conference on Machine Learning&lt;/i&gt;, in &lt;i&gt;Proceedings of Machine Learning Research&lt;/i&gt; 162:25313-25330 Available from https://proceedings.mlr.press/v162/yang22q.html.</a:t>
            </a:r>
            <a:endParaRPr b="1">
              <a:solidFill>
                <a:schemeClr val="accent2"/>
              </a:solidFill>
            </a:endParaRPr>
          </a:p>
          <a:p>
            <a:pPr indent="0" lvl="0" marL="457200" rtl="0" algn="l">
              <a:spcBef>
                <a:spcPts val="0"/>
              </a:spcBef>
              <a:spcAft>
                <a:spcPts val="0"/>
              </a:spcAft>
              <a:buNone/>
            </a:pPr>
            <a:r>
              <a:t/>
            </a:r>
            <a:endParaRPr b="1">
              <a:solidFill>
                <a:schemeClr val="accent2"/>
              </a:solidFill>
            </a:endParaRPr>
          </a:p>
        </p:txBody>
      </p:sp>
      <p:sp>
        <p:nvSpPr>
          <p:cNvPr id="193" name="Google Shape;193;p27"/>
          <p:cNvSpPr txBox="1"/>
          <p:nvPr/>
        </p:nvSpPr>
        <p:spPr>
          <a:xfrm>
            <a:off x="2914950" y="2017725"/>
            <a:ext cx="42789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2"/>
                </a:solidFill>
                <a:latin typeface="Blinker"/>
                <a:ea typeface="Blinker"/>
                <a:cs typeface="Blinker"/>
                <a:sym typeface="Blinker"/>
              </a:rPr>
              <a:t>https://proceedings.mlr.press/v162/yang22q.html</a:t>
            </a:r>
            <a:endParaRPr sz="1600">
              <a:solidFill>
                <a:schemeClr val="lt2"/>
              </a:solidFill>
              <a:latin typeface="Blinker"/>
              <a:ea typeface="Blinker"/>
              <a:cs typeface="Blinker"/>
              <a:sym typeface="Blinker"/>
            </a:endParaRPr>
          </a:p>
        </p:txBody>
      </p:sp>
      <p:sp>
        <p:nvSpPr>
          <p:cNvPr id="194" name="Google Shape;194;p27"/>
          <p:cNvSpPr txBox="1"/>
          <p:nvPr/>
        </p:nvSpPr>
        <p:spPr>
          <a:xfrm>
            <a:off x="517350" y="2560800"/>
            <a:ext cx="8300700" cy="258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500">
                <a:solidFill>
                  <a:schemeClr val="dk1"/>
                </a:solidFill>
                <a:latin typeface="Blinker"/>
                <a:ea typeface="Blinker"/>
                <a:cs typeface="Blinker"/>
                <a:sym typeface="Blinker"/>
              </a:rPr>
              <a:t>This paper investigates the</a:t>
            </a:r>
            <a:r>
              <a:rPr b="1" lang="en" sz="1500">
                <a:solidFill>
                  <a:schemeClr val="dk1"/>
                </a:solidFill>
                <a:latin typeface="Blinker"/>
                <a:ea typeface="Blinker"/>
                <a:cs typeface="Blinker"/>
                <a:sym typeface="Blinker"/>
              </a:rPr>
              <a:t> impact of face obfuscation techniques</a:t>
            </a:r>
            <a:r>
              <a:rPr lang="en" sz="1500">
                <a:solidFill>
                  <a:schemeClr val="dk1"/>
                </a:solidFill>
                <a:latin typeface="Blinker"/>
                <a:ea typeface="Blinker"/>
                <a:cs typeface="Blinker"/>
                <a:sym typeface="Blinker"/>
              </a:rPr>
              <a:t>, such as blurring and mosaicing, on visual recognition tasks, specifically within the </a:t>
            </a:r>
            <a:r>
              <a:rPr b="1" lang="en" sz="1500">
                <a:solidFill>
                  <a:schemeClr val="dk2"/>
                </a:solidFill>
                <a:latin typeface="Blinker"/>
                <a:ea typeface="Blinker"/>
                <a:cs typeface="Blinker"/>
                <a:sym typeface="Blinker"/>
              </a:rPr>
              <a:t>ImageNet challenge</a:t>
            </a:r>
            <a:r>
              <a:rPr lang="en" sz="1500">
                <a:solidFill>
                  <a:schemeClr val="dk1"/>
                </a:solidFill>
                <a:latin typeface="Blinker"/>
                <a:ea typeface="Blinker"/>
                <a:cs typeface="Blinker"/>
                <a:sym typeface="Blinker"/>
              </a:rPr>
              <a:t> benchmark. The researchers first annotate faces in the dataset and then evaluate how obfuscating these faces affects the performance of deep neural networks on recognition tasks. They find that face obfuscation leads to only a minimal drop in recognition accuracy (≤ 1.0%). Additionally, the study shows that features learned on obfuscated images transfer effectively to various downstream tasks, including object recognition, scene recognition, face attribute classification, and object detection. The findings highlight the potential for privacy-preserving visual recognition and propose improvements for future visual datasets.</a:t>
            </a:r>
            <a:endParaRPr sz="1500">
              <a:solidFill>
                <a:schemeClr val="dk1"/>
              </a:solidFill>
              <a:latin typeface="Blinker"/>
              <a:ea typeface="Blinker"/>
              <a:cs typeface="Blinker"/>
              <a:sym typeface="Blinker"/>
            </a:endParaRPr>
          </a:p>
          <a:p>
            <a:pPr indent="0" lvl="0" marL="0" rtl="0" algn="l">
              <a:spcBef>
                <a:spcPts val="1200"/>
              </a:spcBef>
              <a:spcAft>
                <a:spcPts val="0"/>
              </a:spcAft>
              <a:buNone/>
            </a:pPr>
            <a:r>
              <a:t/>
            </a:r>
            <a:endParaRPr sz="1500">
              <a:solidFill>
                <a:schemeClr val="dk1"/>
              </a:solidFill>
              <a:latin typeface="Blinker"/>
              <a:ea typeface="Blinker"/>
              <a:cs typeface="Blinker"/>
              <a:sym typeface="Blinker"/>
            </a:endParaRPr>
          </a:p>
        </p:txBody>
      </p:sp>
      <p:pic>
        <p:nvPicPr>
          <p:cNvPr id="195" name="Google Shape;195;p27"/>
          <p:cNvPicPr preferRelativeResize="0"/>
          <p:nvPr/>
        </p:nvPicPr>
        <p:blipFill>
          <a:blip r:embed="rId3">
            <a:alphaModFix/>
          </a:blip>
          <a:stretch>
            <a:fillRect/>
          </a:stretch>
        </p:blipFill>
        <p:spPr>
          <a:xfrm flipH="1">
            <a:off x="0" y="931952"/>
            <a:ext cx="1592400" cy="16037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720000" y="2924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Propose Architecture</a:t>
            </a:r>
            <a:endParaRPr/>
          </a:p>
        </p:txBody>
      </p:sp>
      <p:sp>
        <p:nvSpPr>
          <p:cNvPr id="201" name="Google Shape;201;p28"/>
          <p:cNvSpPr txBox="1"/>
          <p:nvPr>
            <p:ph idx="2" type="subTitle"/>
          </p:nvPr>
        </p:nvSpPr>
        <p:spPr>
          <a:xfrm>
            <a:off x="391350" y="1017725"/>
            <a:ext cx="5261100" cy="39528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0"/>
              </a:spcBef>
              <a:spcAft>
                <a:spcPts val="0"/>
              </a:spcAft>
              <a:buSzPts val="1400"/>
              <a:buAutoNum type="arabicPeriod"/>
            </a:pPr>
            <a:r>
              <a:rPr lang="en" sz="1400"/>
              <a:t>The proposed solution is a comprehensive and</a:t>
            </a:r>
            <a:r>
              <a:rPr b="1" lang="en" sz="1400">
                <a:solidFill>
                  <a:schemeClr val="accent2"/>
                </a:solidFill>
              </a:rPr>
              <a:t> intelligent video anonymization system</a:t>
            </a:r>
            <a:r>
              <a:rPr lang="en" sz="1400"/>
              <a:t> that integrates  face detection, recognition, and blurring techniques. </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SzPts val="1400"/>
              <a:buAutoNum type="arabicPeriod"/>
            </a:pPr>
            <a:r>
              <a:rPr lang="en" sz="1400"/>
              <a:t>Th</a:t>
            </a:r>
            <a:r>
              <a:rPr lang="en" sz="1400"/>
              <a:t>e system will utilize a deep learning-based approach, combining </a:t>
            </a:r>
            <a:r>
              <a:rPr b="1" lang="en" sz="1400">
                <a:solidFill>
                  <a:schemeClr val="dk2"/>
                </a:solidFill>
              </a:rPr>
              <a:t>MTCNN (Multi-task Cascaded Convolutional Networks)</a:t>
            </a:r>
            <a:r>
              <a:rPr b="1" lang="en" sz="1400"/>
              <a:t> </a:t>
            </a:r>
            <a:r>
              <a:rPr lang="en" sz="1400"/>
              <a:t>for real-time face detection and </a:t>
            </a:r>
            <a:r>
              <a:rPr b="1" lang="en" sz="1400">
                <a:solidFill>
                  <a:schemeClr val="lt2"/>
                </a:solidFill>
              </a:rPr>
              <a:t>FaceNet</a:t>
            </a:r>
            <a:r>
              <a:rPr lang="en" sz="1400"/>
              <a:t> for accurate face recognition. </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SzPts val="1400"/>
              <a:buAutoNum type="arabicPeriod"/>
            </a:pPr>
            <a:r>
              <a:rPr lang="en" sz="1400"/>
              <a:t>The blurring process will be </a:t>
            </a:r>
            <a:r>
              <a:rPr lang="en" sz="1400">
                <a:solidFill>
                  <a:schemeClr val="lt2"/>
                </a:solidFill>
              </a:rPr>
              <a:t>customizable</a:t>
            </a:r>
            <a:r>
              <a:rPr lang="en" sz="1400"/>
              <a:t>, allowing users to select specific faces for anonymization based on pre-uploaded images or other criteria. </a:t>
            </a:r>
            <a:endParaRPr sz="1400"/>
          </a:p>
          <a:p>
            <a:pPr indent="0" lvl="0" marL="457200" rtl="0" algn="l">
              <a:spcBef>
                <a:spcPts val="0"/>
              </a:spcBef>
              <a:spcAft>
                <a:spcPts val="0"/>
              </a:spcAft>
              <a:buNone/>
            </a:pPr>
            <a:r>
              <a:t/>
            </a:r>
            <a:endParaRPr sz="1400"/>
          </a:p>
          <a:p>
            <a:pPr indent="-317500" lvl="0" marL="457200" rtl="0" algn="l">
              <a:spcBef>
                <a:spcPts val="0"/>
              </a:spcBef>
              <a:spcAft>
                <a:spcPts val="0"/>
              </a:spcAft>
              <a:buSzPts val="1400"/>
              <a:buAutoNum type="arabicPeriod"/>
            </a:pPr>
            <a:r>
              <a:rPr lang="en" sz="1400"/>
              <a:t>The system will be designed for scalability, enabling </a:t>
            </a:r>
            <a:r>
              <a:rPr lang="en" sz="1400">
                <a:solidFill>
                  <a:schemeClr val="lt2"/>
                </a:solidFill>
              </a:rPr>
              <a:t>real-time processing of video streams</a:t>
            </a:r>
            <a:r>
              <a:rPr lang="en" sz="1400"/>
              <a:t>, and will be adaptable to different application domains through configurable settings.</a:t>
            </a:r>
            <a:endParaRPr sz="1400"/>
          </a:p>
        </p:txBody>
      </p:sp>
      <p:sp>
        <p:nvSpPr>
          <p:cNvPr id="202" name="Google Shape;202;p28"/>
          <p:cNvSpPr txBox="1"/>
          <p:nvPr/>
        </p:nvSpPr>
        <p:spPr>
          <a:xfrm>
            <a:off x="6145725" y="3293725"/>
            <a:ext cx="282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Blinker"/>
                <a:ea typeface="Blinker"/>
                <a:cs typeface="Blinker"/>
                <a:sym typeface="Blinker"/>
              </a:rPr>
              <a:t>Fig. 01 Concept of Embeddings</a:t>
            </a:r>
            <a:endParaRPr b="1">
              <a:solidFill>
                <a:schemeClr val="dk1"/>
              </a:solidFill>
              <a:latin typeface="Blinker"/>
              <a:ea typeface="Blinker"/>
              <a:cs typeface="Blinker"/>
              <a:sym typeface="Blinker"/>
            </a:endParaRPr>
          </a:p>
        </p:txBody>
      </p:sp>
      <p:pic>
        <p:nvPicPr>
          <p:cNvPr id="203" name="Google Shape;203;p28"/>
          <p:cNvPicPr preferRelativeResize="0"/>
          <p:nvPr/>
        </p:nvPicPr>
        <p:blipFill>
          <a:blip r:embed="rId3">
            <a:alphaModFix/>
          </a:blip>
          <a:stretch>
            <a:fillRect/>
          </a:stretch>
        </p:blipFill>
        <p:spPr>
          <a:xfrm>
            <a:off x="5788200" y="1715349"/>
            <a:ext cx="2894626" cy="16282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nvSpPr>
        <p:spPr>
          <a:xfrm>
            <a:off x="1539500" y="4379925"/>
            <a:ext cx="6318600" cy="29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Blinker"/>
                <a:ea typeface="Blinker"/>
                <a:cs typeface="Blinker"/>
                <a:sym typeface="Blinker"/>
              </a:rPr>
              <a:t>Fig. 02  </a:t>
            </a:r>
            <a:r>
              <a:rPr b="1" lang="en">
                <a:solidFill>
                  <a:srgbClr val="111111"/>
                </a:solidFill>
                <a:highlight>
                  <a:srgbClr val="FFFFFF"/>
                </a:highlight>
                <a:latin typeface="Roboto"/>
                <a:ea typeface="Roboto"/>
                <a:cs typeface="Roboto"/>
                <a:sym typeface="Roboto"/>
              </a:rPr>
              <a:t>MTCNN (Multi-task Cascaded Convolutional Networks) architecture</a:t>
            </a:r>
            <a:endParaRPr b="1">
              <a:solidFill>
                <a:srgbClr val="111111"/>
              </a:solidFill>
              <a:highlight>
                <a:srgbClr val="FFFFFF"/>
              </a:highlight>
              <a:latin typeface="Roboto"/>
              <a:ea typeface="Roboto"/>
              <a:cs typeface="Roboto"/>
              <a:sym typeface="Roboto"/>
            </a:endParaRPr>
          </a:p>
          <a:p>
            <a:pPr indent="0" lvl="0" marL="0" rtl="0" algn="l">
              <a:spcBef>
                <a:spcPts val="0"/>
              </a:spcBef>
              <a:spcAft>
                <a:spcPts val="0"/>
              </a:spcAft>
              <a:buNone/>
            </a:pPr>
            <a:r>
              <a:t/>
            </a:r>
            <a:endParaRPr b="1">
              <a:solidFill>
                <a:schemeClr val="dk1"/>
              </a:solidFill>
              <a:latin typeface="Blinker"/>
              <a:ea typeface="Blinker"/>
              <a:cs typeface="Blinker"/>
              <a:sym typeface="Blinker"/>
            </a:endParaRPr>
          </a:p>
        </p:txBody>
      </p:sp>
      <p:pic>
        <p:nvPicPr>
          <p:cNvPr id="209" name="Google Shape;209;p29"/>
          <p:cNvPicPr preferRelativeResize="0"/>
          <p:nvPr/>
        </p:nvPicPr>
        <p:blipFill>
          <a:blip r:embed="rId3">
            <a:alphaModFix/>
          </a:blip>
          <a:stretch>
            <a:fillRect/>
          </a:stretch>
        </p:blipFill>
        <p:spPr>
          <a:xfrm>
            <a:off x="1222263" y="452025"/>
            <a:ext cx="6476575" cy="3847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Modules</a:t>
            </a:r>
            <a:endParaRPr/>
          </a:p>
        </p:txBody>
      </p:sp>
      <p:sp>
        <p:nvSpPr>
          <p:cNvPr id="215" name="Google Shape;215;p30"/>
          <p:cNvSpPr/>
          <p:nvPr/>
        </p:nvSpPr>
        <p:spPr>
          <a:xfrm>
            <a:off x="1486675" y="1361700"/>
            <a:ext cx="265200" cy="265200"/>
          </a:xfrm>
          <a:prstGeom prst="rect">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1</a:t>
            </a:r>
            <a:endParaRPr b="1">
              <a:solidFill>
                <a:schemeClr val="dk1"/>
              </a:solidFill>
              <a:latin typeface="Blinker"/>
              <a:ea typeface="Blinker"/>
              <a:cs typeface="Blinker"/>
              <a:sym typeface="Blinker"/>
            </a:endParaRPr>
          </a:p>
        </p:txBody>
      </p:sp>
      <p:sp>
        <p:nvSpPr>
          <p:cNvPr id="216" name="Google Shape;216;p30"/>
          <p:cNvSpPr/>
          <p:nvPr/>
        </p:nvSpPr>
        <p:spPr>
          <a:xfrm>
            <a:off x="3450575" y="1361700"/>
            <a:ext cx="265200" cy="265200"/>
          </a:xfrm>
          <a:prstGeom prst="rect">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2</a:t>
            </a:r>
            <a:endParaRPr b="1">
              <a:solidFill>
                <a:schemeClr val="dk1"/>
              </a:solidFill>
              <a:latin typeface="Blinker"/>
              <a:ea typeface="Blinker"/>
              <a:cs typeface="Blinker"/>
              <a:sym typeface="Blinker"/>
            </a:endParaRPr>
          </a:p>
        </p:txBody>
      </p:sp>
      <p:sp>
        <p:nvSpPr>
          <p:cNvPr id="217" name="Google Shape;217;p30"/>
          <p:cNvSpPr/>
          <p:nvPr/>
        </p:nvSpPr>
        <p:spPr>
          <a:xfrm>
            <a:off x="5414475" y="1361700"/>
            <a:ext cx="265200" cy="265200"/>
          </a:xfrm>
          <a:prstGeom prst="rect">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3</a:t>
            </a:r>
            <a:endParaRPr b="1">
              <a:solidFill>
                <a:schemeClr val="dk1"/>
              </a:solidFill>
              <a:latin typeface="Blinker"/>
              <a:ea typeface="Blinker"/>
              <a:cs typeface="Blinker"/>
              <a:sym typeface="Blinker"/>
            </a:endParaRPr>
          </a:p>
        </p:txBody>
      </p:sp>
      <p:sp>
        <p:nvSpPr>
          <p:cNvPr id="218" name="Google Shape;218;p30"/>
          <p:cNvSpPr/>
          <p:nvPr/>
        </p:nvSpPr>
        <p:spPr>
          <a:xfrm>
            <a:off x="7378375" y="1361700"/>
            <a:ext cx="265200" cy="265200"/>
          </a:xfrm>
          <a:prstGeom prst="rect">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4</a:t>
            </a:r>
            <a:endParaRPr b="1">
              <a:solidFill>
                <a:schemeClr val="dk1"/>
              </a:solidFill>
              <a:latin typeface="Blinker"/>
              <a:ea typeface="Blinker"/>
              <a:cs typeface="Blinker"/>
              <a:sym typeface="Blinker"/>
            </a:endParaRPr>
          </a:p>
        </p:txBody>
      </p:sp>
      <p:sp>
        <p:nvSpPr>
          <p:cNvPr id="219" name="Google Shape;219;p30"/>
          <p:cNvSpPr txBox="1"/>
          <p:nvPr/>
        </p:nvSpPr>
        <p:spPr>
          <a:xfrm flipH="1">
            <a:off x="713125" y="1862575"/>
            <a:ext cx="1812300" cy="85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Input Module</a:t>
            </a:r>
            <a:endParaRPr b="1">
              <a:solidFill>
                <a:schemeClr val="dk1"/>
              </a:solidFill>
              <a:latin typeface="Blinker"/>
              <a:ea typeface="Blinker"/>
              <a:cs typeface="Blinker"/>
              <a:sym typeface="Blinker"/>
            </a:endParaRPr>
          </a:p>
          <a:p>
            <a:pPr indent="0" lvl="0" marL="0" rtl="0" algn="ctr">
              <a:spcBef>
                <a:spcPts val="0"/>
              </a:spcBef>
              <a:spcAft>
                <a:spcPts val="0"/>
              </a:spcAft>
              <a:buNone/>
            </a:pPr>
            <a:r>
              <a:rPr lang="en" sz="1200">
                <a:solidFill>
                  <a:schemeClr val="dk1"/>
                </a:solidFill>
                <a:latin typeface="Blinker"/>
                <a:ea typeface="Blinker"/>
                <a:cs typeface="Blinker"/>
                <a:sym typeface="Blinker"/>
              </a:rPr>
              <a:t>Handles the ingestion of video files or streams.</a:t>
            </a:r>
            <a:endParaRPr sz="1200">
              <a:solidFill>
                <a:schemeClr val="dk1"/>
              </a:solidFill>
              <a:latin typeface="Blinker"/>
              <a:ea typeface="Blinker"/>
              <a:cs typeface="Blinker"/>
              <a:sym typeface="Blinker"/>
            </a:endParaRPr>
          </a:p>
        </p:txBody>
      </p:sp>
      <p:sp>
        <p:nvSpPr>
          <p:cNvPr id="220" name="Google Shape;220;p30"/>
          <p:cNvSpPr txBox="1"/>
          <p:nvPr/>
        </p:nvSpPr>
        <p:spPr>
          <a:xfrm flipH="1">
            <a:off x="2677125" y="1862575"/>
            <a:ext cx="1963800" cy="85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Preprocessing Module</a:t>
            </a:r>
            <a:endParaRPr b="1">
              <a:solidFill>
                <a:schemeClr val="dk1"/>
              </a:solidFill>
              <a:latin typeface="Blinker"/>
              <a:ea typeface="Blinker"/>
              <a:cs typeface="Blinker"/>
              <a:sym typeface="Blinker"/>
            </a:endParaRPr>
          </a:p>
          <a:p>
            <a:pPr indent="0" lvl="0" marL="0" rtl="0" algn="ctr">
              <a:spcBef>
                <a:spcPts val="0"/>
              </a:spcBef>
              <a:spcAft>
                <a:spcPts val="0"/>
              </a:spcAft>
              <a:buNone/>
            </a:pPr>
            <a:r>
              <a:rPr lang="en" sz="1200">
                <a:solidFill>
                  <a:schemeClr val="dk1"/>
                </a:solidFill>
                <a:latin typeface="Blinker"/>
                <a:ea typeface="Blinker"/>
                <a:cs typeface="Blinker"/>
                <a:sym typeface="Blinker"/>
              </a:rPr>
              <a:t>Involves tasks like resizing, frame extraction, and basic image enhancements</a:t>
            </a:r>
            <a:endParaRPr sz="1200">
              <a:solidFill>
                <a:schemeClr val="dk1"/>
              </a:solidFill>
              <a:latin typeface="Blinker"/>
              <a:ea typeface="Blinker"/>
              <a:cs typeface="Blinker"/>
              <a:sym typeface="Blinker"/>
            </a:endParaRPr>
          </a:p>
        </p:txBody>
      </p:sp>
      <p:sp>
        <p:nvSpPr>
          <p:cNvPr id="221" name="Google Shape;221;p30"/>
          <p:cNvSpPr txBox="1"/>
          <p:nvPr/>
        </p:nvSpPr>
        <p:spPr>
          <a:xfrm flipH="1">
            <a:off x="4619775" y="1859588"/>
            <a:ext cx="1896600" cy="75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Face Detection Module</a:t>
            </a:r>
            <a:endParaRPr b="1">
              <a:solidFill>
                <a:schemeClr val="dk1"/>
              </a:solidFill>
              <a:latin typeface="Blinker"/>
              <a:ea typeface="Blinker"/>
              <a:cs typeface="Blinker"/>
              <a:sym typeface="Blinker"/>
            </a:endParaRPr>
          </a:p>
          <a:p>
            <a:pPr indent="0" lvl="0" marL="0" rtl="0" algn="ctr">
              <a:spcBef>
                <a:spcPts val="0"/>
              </a:spcBef>
              <a:spcAft>
                <a:spcPts val="0"/>
              </a:spcAft>
              <a:buNone/>
            </a:pPr>
            <a:r>
              <a:rPr lang="en" sz="1200">
                <a:solidFill>
                  <a:schemeClr val="dk1"/>
                </a:solidFill>
                <a:latin typeface="Blinker"/>
                <a:ea typeface="Blinker"/>
                <a:cs typeface="Blinker"/>
                <a:sym typeface="Blinker"/>
              </a:rPr>
              <a:t>Utilizes a deep learning model to detect faces in each frame.</a:t>
            </a:r>
            <a:endParaRPr sz="1200">
              <a:solidFill>
                <a:schemeClr val="dk1"/>
              </a:solidFill>
              <a:latin typeface="Blinker"/>
              <a:ea typeface="Blinker"/>
              <a:cs typeface="Blinker"/>
              <a:sym typeface="Blinker"/>
            </a:endParaRPr>
          </a:p>
        </p:txBody>
      </p:sp>
      <p:sp>
        <p:nvSpPr>
          <p:cNvPr id="222" name="Google Shape;222;p30"/>
          <p:cNvSpPr txBox="1"/>
          <p:nvPr/>
        </p:nvSpPr>
        <p:spPr>
          <a:xfrm flipH="1">
            <a:off x="6461575" y="1862575"/>
            <a:ext cx="2098800" cy="85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Face Recognition Module</a:t>
            </a:r>
            <a:endParaRPr b="1">
              <a:solidFill>
                <a:schemeClr val="dk1"/>
              </a:solidFill>
              <a:latin typeface="Blinker"/>
              <a:ea typeface="Blinker"/>
              <a:cs typeface="Blinker"/>
              <a:sym typeface="Blinker"/>
            </a:endParaRPr>
          </a:p>
          <a:p>
            <a:pPr indent="0" lvl="0" marL="0" rtl="0" algn="ctr">
              <a:spcBef>
                <a:spcPts val="0"/>
              </a:spcBef>
              <a:spcAft>
                <a:spcPts val="0"/>
              </a:spcAft>
              <a:buNone/>
            </a:pPr>
            <a:r>
              <a:rPr lang="en" sz="1200">
                <a:solidFill>
                  <a:schemeClr val="dk1"/>
                </a:solidFill>
                <a:latin typeface="Blinker"/>
                <a:ea typeface="Blinker"/>
                <a:cs typeface="Blinker"/>
                <a:sym typeface="Blinker"/>
              </a:rPr>
              <a:t>Employs a model like FaceNet to match detected faces with a predefined database of faces.</a:t>
            </a:r>
            <a:endParaRPr sz="1200">
              <a:solidFill>
                <a:schemeClr val="dk1"/>
              </a:solidFill>
              <a:latin typeface="Blinker"/>
              <a:ea typeface="Blinker"/>
              <a:cs typeface="Blinker"/>
              <a:sym typeface="Blinker"/>
            </a:endParaRPr>
          </a:p>
        </p:txBody>
      </p:sp>
      <p:cxnSp>
        <p:nvCxnSpPr>
          <p:cNvPr id="223" name="Google Shape;223;p30"/>
          <p:cNvCxnSpPr>
            <a:stCxn id="215" idx="3"/>
            <a:endCxn id="216" idx="1"/>
          </p:cNvCxnSpPr>
          <p:nvPr/>
        </p:nvCxnSpPr>
        <p:spPr>
          <a:xfrm>
            <a:off x="1751875" y="1494300"/>
            <a:ext cx="1698600" cy="0"/>
          </a:xfrm>
          <a:prstGeom prst="straightConnector1">
            <a:avLst/>
          </a:prstGeom>
          <a:noFill/>
          <a:ln cap="flat" cmpd="sng" w="9525">
            <a:solidFill>
              <a:schemeClr val="dk1"/>
            </a:solidFill>
            <a:prstDash val="solid"/>
            <a:round/>
            <a:headEnd len="med" w="med" type="none"/>
            <a:tailEnd len="med" w="med" type="triangle"/>
          </a:ln>
        </p:spPr>
      </p:cxnSp>
      <p:cxnSp>
        <p:nvCxnSpPr>
          <p:cNvPr id="224" name="Google Shape;224;p30"/>
          <p:cNvCxnSpPr>
            <a:stCxn id="216" idx="3"/>
            <a:endCxn id="217" idx="1"/>
          </p:cNvCxnSpPr>
          <p:nvPr/>
        </p:nvCxnSpPr>
        <p:spPr>
          <a:xfrm>
            <a:off x="3715775" y="1494300"/>
            <a:ext cx="1698600" cy="0"/>
          </a:xfrm>
          <a:prstGeom prst="straightConnector1">
            <a:avLst/>
          </a:prstGeom>
          <a:noFill/>
          <a:ln cap="flat" cmpd="sng" w="9525">
            <a:solidFill>
              <a:schemeClr val="dk1"/>
            </a:solidFill>
            <a:prstDash val="solid"/>
            <a:round/>
            <a:headEnd len="med" w="med" type="none"/>
            <a:tailEnd len="med" w="med" type="triangle"/>
          </a:ln>
        </p:spPr>
      </p:cxnSp>
      <p:cxnSp>
        <p:nvCxnSpPr>
          <p:cNvPr id="225" name="Google Shape;225;p30"/>
          <p:cNvCxnSpPr>
            <a:stCxn id="217" idx="3"/>
            <a:endCxn id="218" idx="1"/>
          </p:cNvCxnSpPr>
          <p:nvPr/>
        </p:nvCxnSpPr>
        <p:spPr>
          <a:xfrm>
            <a:off x="5679675" y="1494300"/>
            <a:ext cx="1698600" cy="0"/>
          </a:xfrm>
          <a:prstGeom prst="straightConnector1">
            <a:avLst/>
          </a:prstGeom>
          <a:noFill/>
          <a:ln cap="flat" cmpd="sng" w="9525">
            <a:solidFill>
              <a:schemeClr val="dk1"/>
            </a:solidFill>
            <a:prstDash val="solid"/>
            <a:round/>
            <a:headEnd len="med" w="med" type="none"/>
            <a:tailEnd len="med" w="med" type="triangle"/>
          </a:ln>
        </p:spPr>
      </p:cxnSp>
      <p:cxnSp>
        <p:nvCxnSpPr>
          <p:cNvPr id="226" name="Google Shape;226;p30"/>
          <p:cNvCxnSpPr>
            <a:stCxn id="215" idx="2"/>
            <a:endCxn id="219" idx="0"/>
          </p:cNvCxnSpPr>
          <p:nvPr/>
        </p:nvCxnSpPr>
        <p:spPr>
          <a:xfrm>
            <a:off x="1619275" y="1626900"/>
            <a:ext cx="0" cy="235800"/>
          </a:xfrm>
          <a:prstGeom prst="straightConnector1">
            <a:avLst/>
          </a:prstGeom>
          <a:noFill/>
          <a:ln cap="flat" cmpd="sng" w="9525">
            <a:solidFill>
              <a:schemeClr val="dk1"/>
            </a:solidFill>
            <a:prstDash val="solid"/>
            <a:round/>
            <a:headEnd len="med" w="med" type="none"/>
            <a:tailEnd len="med" w="med" type="none"/>
          </a:ln>
        </p:spPr>
      </p:cxnSp>
      <p:cxnSp>
        <p:nvCxnSpPr>
          <p:cNvPr id="227" name="Google Shape;227;p30"/>
          <p:cNvCxnSpPr>
            <a:stCxn id="217" idx="2"/>
            <a:endCxn id="221" idx="0"/>
          </p:cNvCxnSpPr>
          <p:nvPr/>
        </p:nvCxnSpPr>
        <p:spPr>
          <a:xfrm>
            <a:off x="5547075" y="1626900"/>
            <a:ext cx="21000" cy="232800"/>
          </a:xfrm>
          <a:prstGeom prst="straightConnector1">
            <a:avLst/>
          </a:prstGeom>
          <a:noFill/>
          <a:ln cap="flat" cmpd="sng" w="9525">
            <a:solidFill>
              <a:schemeClr val="dk1"/>
            </a:solidFill>
            <a:prstDash val="solid"/>
            <a:round/>
            <a:headEnd len="med" w="med" type="none"/>
            <a:tailEnd len="med" w="med" type="none"/>
          </a:ln>
        </p:spPr>
      </p:cxnSp>
      <p:cxnSp>
        <p:nvCxnSpPr>
          <p:cNvPr id="228" name="Google Shape;228;p30"/>
          <p:cNvCxnSpPr>
            <a:stCxn id="218" idx="2"/>
            <a:endCxn id="222" idx="0"/>
          </p:cNvCxnSpPr>
          <p:nvPr/>
        </p:nvCxnSpPr>
        <p:spPr>
          <a:xfrm>
            <a:off x="7510975" y="1626900"/>
            <a:ext cx="0" cy="235800"/>
          </a:xfrm>
          <a:prstGeom prst="straightConnector1">
            <a:avLst/>
          </a:prstGeom>
          <a:noFill/>
          <a:ln cap="flat" cmpd="sng" w="9525">
            <a:solidFill>
              <a:schemeClr val="dk1"/>
            </a:solidFill>
            <a:prstDash val="solid"/>
            <a:round/>
            <a:headEnd len="med" w="med" type="none"/>
            <a:tailEnd len="med" w="med" type="none"/>
          </a:ln>
        </p:spPr>
      </p:cxnSp>
      <p:sp>
        <p:nvSpPr>
          <p:cNvPr id="229" name="Google Shape;229;p30"/>
          <p:cNvSpPr/>
          <p:nvPr/>
        </p:nvSpPr>
        <p:spPr>
          <a:xfrm>
            <a:off x="1486675" y="3196150"/>
            <a:ext cx="265200" cy="265200"/>
          </a:xfrm>
          <a:prstGeom prst="rect">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5</a:t>
            </a:r>
            <a:endParaRPr b="1">
              <a:solidFill>
                <a:schemeClr val="dk1"/>
              </a:solidFill>
              <a:latin typeface="Blinker"/>
              <a:ea typeface="Blinker"/>
              <a:cs typeface="Blinker"/>
              <a:sym typeface="Blinker"/>
            </a:endParaRPr>
          </a:p>
        </p:txBody>
      </p:sp>
      <p:sp>
        <p:nvSpPr>
          <p:cNvPr id="230" name="Google Shape;230;p30"/>
          <p:cNvSpPr/>
          <p:nvPr/>
        </p:nvSpPr>
        <p:spPr>
          <a:xfrm>
            <a:off x="3450575" y="3196150"/>
            <a:ext cx="265200" cy="265200"/>
          </a:xfrm>
          <a:prstGeom prst="rect">
            <a:avLst/>
          </a:prstGeom>
          <a:solidFill>
            <a:schemeClr val="accent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6</a:t>
            </a:r>
            <a:endParaRPr b="1">
              <a:solidFill>
                <a:schemeClr val="dk1"/>
              </a:solidFill>
              <a:latin typeface="Blinker"/>
              <a:ea typeface="Blinker"/>
              <a:cs typeface="Blinker"/>
              <a:sym typeface="Blinker"/>
            </a:endParaRPr>
          </a:p>
        </p:txBody>
      </p:sp>
      <p:sp>
        <p:nvSpPr>
          <p:cNvPr id="231" name="Google Shape;231;p30"/>
          <p:cNvSpPr txBox="1"/>
          <p:nvPr/>
        </p:nvSpPr>
        <p:spPr>
          <a:xfrm flipH="1">
            <a:off x="578125" y="3697025"/>
            <a:ext cx="2098800" cy="109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Blurring Module</a:t>
            </a:r>
            <a:endParaRPr b="1">
              <a:solidFill>
                <a:schemeClr val="dk1"/>
              </a:solidFill>
              <a:latin typeface="Blinker"/>
              <a:ea typeface="Blinker"/>
              <a:cs typeface="Blinker"/>
              <a:sym typeface="Blinker"/>
            </a:endParaRPr>
          </a:p>
          <a:p>
            <a:pPr indent="0" lvl="0" marL="0" rtl="0" algn="ctr">
              <a:spcBef>
                <a:spcPts val="0"/>
              </a:spcBef>
              <a:spcAft>
                <a:spcPts val="0"/>
              </a:spcAft>
              <a:buNone/>
            </a:pPr>
            <a:r>
              <a:rPr lang="en" sz="1200">
                <a:solidFill>
                  <a:schemeClr val="dk1"/>
                </a:solidFill>
                <a:latin typeface="Blinker"/>
                <a:ea typeface="Blinker"/>
                <a:cs typeface="Blinker"/>
                <a:sym typeface="Blinker"/>
              </a:rPr>
              <a:t>Applies Gaussian blur or pixelation to the identified faces that need to be anonymized.</a:t>
            </a:r>
            <a:endParaRPr sz="1200">
              <a:solidFill>
                <a:schemeClr val="dk1"/>
              </a:solidFill>
              <a:latin typeface="Blinker"/>
              <a:ea typeface="Blinker"/>
              <a:cs typeface="Blinker"/>
              <a:sym typeface="Blinker"/>
            </a:endParaRPr>
          </a:p>
        </p:txBody>
      </p:sp>
      <p:sp>
        <p:nvSpPr>
          <p:cNvPr id="232" name="Google Shape;232;p30"/>
          <p:cNvSpPr txBox="1"/>
          <p:nvPr/>
        </p:nvSpPr>
        <p:spPr>
          <a:xfrm flipH="1">
            <a:off x="2592725" y="3697025"/>
            <a:ext cx="1963800" cy="100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Blinker"/>
                <a:ea typeface="Blinker"/>
                <a:cs typeface="Blinker"/>
                <a:sym typeface="Blinker"/>
              </a:rPr>
              <a:t>Output Module</a:t>
            </a:r>
            <a:endParaRPr b="1">
              <a:solidFill>
                <a:schemeClr val="dk1"/>
              </a:solidFill>
              <a:latin typeface="Blinker"/>
              <a:ea typeface="Blinker"/>
              <a:cs typeface="Blinker"/>
              <a:sym typeface="Blinker"/>
            </a:endParaRPr>
          </a:p>
          <a:p>
            <a:pPr indent="0" lvl="0" marL="0" rtl="0" algn="ctr">
              <a:spcBef>
                <a:spcPts val="0"/>
              </a:spcBef>
              <a:spcAft>
                <a:spcPts val="0"/>
              </a:spcAft>
              <a:buNone/>
            </a:pPr>
            <a:r>
              <a:rPr lang="en" sz="1200">
                <a:solidFill>
                  <a:schemeClr val="dk1"/>
                </a:solidFill>
                <a:latin typeface="Blinker"/>
                <a:ea typeface="Blinker"/>
                <a:cs typeface="Blinker"/>
                <a:sym typeface="Blinker"/>
              </a:rPr>
              <a:t>Reassembles the video with anonymized frames and outputs the final video file.</a:t>
            </a:r>
            <a:endParaRPr sz="1200">
              <a:solidFill>
                <a:schemeClr val="dk1"/>
              </a:solidFill>
              <a:latin typeface="Blinker"/>
              <a:ea typeface="Blinker"/>
              <a:cs typeface="Blinker"/>
              <a:sym typeface="Blinker"/>
            </a:endParaRPr>
          </a:p>
        </p:txBody>
      </p:sp>
      <p:sp>
        <p:nvSpPr>
          <p:cNvPr id="233" name="Google Shape;233;p30"/>
          <p:cNvSpPr txBox="1"/>
          <p:nvPr/>
        </p:nvSpPr>
        <p:spPr>
          <a:xfrm flipH="1">
            <a:off x="4640925" y="3697025"/>
            <a:ext cx="1812300" cy="85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a:solidFill>
                <a:schemeClr val="dk1"/>
              </a:solidFill>
              <a:latin typeface="Blinker"/>
              <a:ea typeface="Blinker"/>
              <a:cs typeface="Blinker"/>
              <a:sym typeface="Blinker"/>
            </a:endParaRPr>
          </a:p>
        </p:txBody>
      </p:sp>
      <p:cxnSp>
        <p:nvCxnSpPr>
          <p:cNvPr id="234" name="Google Shape;234;p30"/>
          <p:cNvCxnSpPr>
            <a:stCxn id="229" idx="3"/>
            <a:endCxn id="230" idx="1"/>
          </p:cNvCxnSpPr>
          <p:nvPr/>
        </p:nvCxnSpPr>
        <p:spPr>
          <a:xfrm>
            <a:off x="1751875" y="3328750"/>
            <a:ext cx="1698600" cy="0"/>
          </a:xfrm>
          <a:prstGeom prst="straightConnector1">
            <a:avLst/>
          </a:prstGeom>
          <a:noFill/>
          <a:ln cap="flat" cmpd="sng" w="9525">
            <a:solidFill>
              <a:schemeClr val="dk1"/>
            </a:solidFill>
            <a:prstDash val="solid"/>
            <a:round/>
            <a:headEnd len="med" w="med" type="none"/>
            <a:tailEnd len="med" w="med" type="triangle"/>
          </a:ln>
        </p:spPr>
      </p:cxnSp>
      <p:cxnSp>
        <p:nvCxnSpPr>
          <p:cNvPr id="235" name="Google Shape;235;p30"/>
          <p:cNvCxnSpPr>
            <a:stCxn id="229" idx="2"/>
            <a:endCxn id="231" idx="0"/>
          </p:cNvCxnSpPr>
          <p:nvPr/>
        </p:nvCxnSpPr>
        <p:spPr>
          <a:xfrm>
            <a:off x="1619275" y="3461350"/>
            <a:ext cx="8400" cy="235800"/>
          </a:xfrm>
          <a:prstGeom prst="straightConnector1">
            <a:avLst/>
          </a:prstGeom>
          <a:noFill/>
          <a:ln cap="flat" cmpd="sng" w="9525">
            <a:solidFill>
              <a:schemeClr val="dk1"/>
            </a:solidFill>
            <a:prstDash val="solid"/>
            <a:round/>
            <a:headEnd len="med" w="med" type="none"/>
            <a:tailEnd len="med" w="med" type="none"/>
          </a:ln>
        </p:spPr>
      </p:cxnSp>
      <p:cxnSp>
        <p:nvCxnSpPr>
          <p:cNvPr id="236" name="Google Shape;236;p30"/>
          <p:cNvCxnSpPr>
            <a:stCxn id="230" idx="2"/>
            <a:endCxn id="232" idx="0"/>
          </p:cNvCxnSpPr>
          <p:nvPr/>
        </p:nvCxnSpPr>
        <p:spPr>
          <a:xfrm flipH="1">
            <a:off x="3574475" y="3461350"/>
            <a:ext cx="8700" cy="23580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30"/>
          <p:cNvCxnSpPr>
            <a:stCxn id="218" idx="3"/>
          </p:cNvCxnSpPr>
          <p:nvPr/>
        </p:nvCxnSpPr>
        <p:spPr>
          <a:xfrm>
            <a:off x="7643575" y="1494300"/>
            <a:ext cx="1188900" cy="0"/>
          </a:xfrm>
          <a:prstGeom prst="straightConnector1">
            <a:avLst/>
          </a:prstGeom>
          <a:noFill/>
          <a:ln cap="flat" cmpd="sng" w="9525">
            <a:solidFill>
              <a:schemeClr val="dk1"/>
            </a:solidFill>
            <a:prstDash val="solid"/>
            <a:round/>
            <a:headEnd len="med" w="med" type="none"/>
            <a:tailEnd len="med" w="med" type="none"/>
          </a:ln>
        </p:spPr>
      </p:cxnSp>
      <p:cxnSp>
        <p:nvCxnSpPr>
          <p:cNvPr id="238" name="Google Shape;238;p30"/>
          <p:cNvCxnSpPr>
            <a:stCxn id="229" idx="1"/>
          </p:cNvCxnSpPr>
          <p:nvPr/>
        </p:nvCxnSpPr>
        <p:spPr>
          <a:xfrm rot="10800000">
            <a:off x="227275" y="3328750"/>
            <a:ext cx="1259400" cy="0"/>
          </a:xfrm>
          <a:prstGeom prst="straightConnector1">
            <a:avLst/>
          </a:prstGeom>
          <a:noFill/>
          <a:ln cap="flat" cmpd="sng" w="9525">
            <a:solidFill>
              <a:schemeClr val="dk1"/>
            </a:solidFill>
            <a:prstDash val="solid"/>
            <a:round/>
            <a:headEnd len="med" w="med" type="triangle"/>
            <a:tailEnd len="med" w="med" type="none"/>
          </a:ln>
        </p:spPr>
      </p:cxnSp>
      <p:pic>
        <p:nvPicPr>
          <p:cNvPr id="239" name="Google Shape;239;p30"/>
          <p:cNvPicPr preferRelativeResize="0"/>
          <p:nvPr/>
        </p:nvPicPr>
        <p:blipFill>
          <a:blip r:embed="rId3">
            <a:alphaModFix/>
          </a:blip>
          <a:stretch>
            <a:fillRect/>
          </a:stretch>
        </p:blipFill>
        <p:spPr>
          <a:xfrm>
            <a:off x="5100478" y="3196138"/>
            <a:ext cx="935182" cy="1371599"/>
          </a:xfrm>
          <a:prstGeom prst="rect">
            <a:avLst/>
          </a:prstGeom>
          <a:noFill/>
          <a:ln>
            <a:noFill/>
          </a:ln>
        </p:spPr>
      </p:pic>
      <p:cxnSp>
        <p:nvCxnSpPr>
          <p:cNvPr id="240" name="Google Shape;240;p30"/>
          <p:cNvCxnSpPr/>
          <p:nvPr/>
        </p:nvCxnSpPr>
        <p:spPr>
          <a:xfrm>
            <a:off x="3583175" y="1626900"/>
            <a:ext cx="0" cy="2358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1"/>
          <p:cNvSpPr txBox="1"/>
          <p:nvPr>
            <p:ph type="title"/>
          </p:nvPr>
        </p:nvSpPr>
        <p:spPr>
          <a:xfrm>
            <a:off x="2687088" y="277150"/>
            <a:ext cx="376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Architecture</a:t>
            </a:r>
            <a:r>
              <a:rPr lang="en"/>
              <a:t> Diagram</a:t>
            </a:r>
            <a:endParaRPr/>
          </a:p>
        </p:txBody>
      </p:sp>
      <p:pic>
        <p:nvPicPr>
          <p:cNvPr id="246" name="Google Shape;246;p31"/>
          <p:cNvPicPr preferRelativeResize="0"/>
          <p:nvPr/>
        </p:nvPicPr>
        <p:blipFill>
          <a:blip r:embed="rId3">
            <a:alphaModFix/>
          </a:blip>
          <a:stretch>
            <a:fillRect/>
          </a:stretch>
        </p:blipFill>
        <p:spPr>
          <a:xfrm>
            <a:off x="846650" y="849850"/>
            <a:ext cx="7164325" cy="3911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2"/>
          <p:cNvSpPr txBox="1"/>
          <p:nvPr>
            <p:ph type="title"/>
          </p:nvPr>
        </p:nvSpPr>
        <p:spPr>
          <a:xfrm>
            <a:off x="2687088" y="277150"/>
            <a:ext cx="376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Detailed Description</a:t>
            </a:r>
            <a:endParaRPr/>
          </a:p>
        </p:txBody>
      </p:sp>
      <p:sp>
        <p:nvSpPr>
          <p:cNvPr id="252" name="Google Shape;252;p32"/>
          <p:cNvSpPr txBox="1"/>
          <p:nvPr>
            <p:ph idx="4" type="subTitle"/>
          </p:nvPr>
        </p:nvSpPr>
        <p:spPr>
          <a:xfrm>
            <a:off x="1248450" y="902912"/>
            <a:ext cx="2175300" cy="46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Input Module</a:t>
            </a:r>
            <a:endParaRPr/>
          </a:p>
        </p:txBody>
      </p:sp>
      <p:sp>
        <p:nvSpPr>
          <p:cNvPr id="253" name="Google Shape;253;p32"/>
          <p:cNvSpPr txBox="1"/>
          <p:nvPr>
            <p:ph idx="1" type="subTitle"/>
          </p:nvPr>
        </p:nvSpPr>
        <p:spPr>
          <a:xfrm>
            <a:off x="456650" y="1424250"/>
            <a:ext cx="4083600" cy="3451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The Input Module is responsible for </a:t>
            </a:r>
            <a:r>
              <a:rPr i="1" lang="en" sz="1500"/>
              <a:t>ingesting video files</a:t>
            </a:r>
            <a:r>
              <a:rPr lang="en" sz="1500"/>
              <a:t> or streams into the system. </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This module supports </a:t>
            </a:r>
            <a:r>
              <a:rPr i="1" lang="en" sz="1500"/>
              <a:t>various video formats and resolutions</a:t>
            </a:r>
            <a:r>
              <a:rPr lang="en" sz="1500"/>
              <a:t>, ensuring flexibility and broad applicability. </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It includes mechanisms for handling both </a:t>
            </a:r>
            <a:r>
              <a:rPr i="1" lang="en" sz="1500"/>
              <a:t>offline videos and live streams</a:t>
            </a:r>
            <a:endParaRPr i="1" sz="1500"/>
          </a:p>
          <a:p>
            <a:pPr indent="0" lvl="0" marL="457200" rtl="0" algn="l">
              <a:spcBef>
                <a:spcPts val="0"/>
              </a:spcBef>
              <a:spcAft>
                <a:spcPts val="0"/>
              </a:spcAft>
              <a:buNone/>
            </a:pPr>
            <a:r>
              <a:rPr i="1" lang="en" sz="1500"/>
              <a:t>. </a:t>
            </a:r>
            <a:endParaRPr i="1" sz="1500"/>
          </a:p>
          <a:p>
            <a:pPr indent="-323850" lvl="0" marL="457200" rtl="0" algn="l">
              <a:spcBef>
                <a:spcPts val="0"/>
              </a:spcBef>
              <a:spcAft>
                <a:spcPts val="0"/>
              </a:spcAft>
              <a:buSzPts val="1500"/>
              <a:buAutoNum type="arabicPeriod"/>
            </a:pPr>
            <a:r>
              <a:rPr lang="en" sz="1500"/>
              <a:t>The module also provides an interface for users to </a:t>
            </a:r>
            <a:r>
              <a:rPr i="1" lang="en" sz="1500"/>
              <a:t>upload videos</a:t>
            </a:r>
            <a:r>
              <a:rPr lang="en" sz="1500"/>
              <a:t> and </a:t>
            </a:r>
            <a:r>
              <a:rPr i="1" lang="en" sz="1500"/>
              <a:t>select specific parameters for processing</a:t>
            </a:r>
            <a:r>
              <a:rPr lang="en" sz="1500"/>
              <a:t>, such as frame rate and resolution settings.</a:t>
            </a:r>
            <a:endParaRPr sz="1500"/>
          </a:p>
        </p:txBody>
      </p:sp>
      <p:sp>
        <p:nvSpPr>
          <p:cNvPr id="254" name="Google Shape;254;p32"/>
          <p:cNvSpPr txBox="1"/>
          <p:nvPr>
            <p:ph idx="3" type="subTitle"/>
          </p:nvPr>
        </p:nvSpPr>
        <p:spPr>
          <a:xfrm>
            <a:off x="4540250" y="1424250"/>
            <a:ext cx="4289400" cy="3337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The Preprocessing Module prepares the video data for subsequent stages of the pipeline. </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Key tasks include</a:t>
            </a:r>
            <a:r>
              <a:rPr i="1" lang="en" sz="1500"/>
              <a:t> resizing frames</a:t>
            </a:r>
            <a:r>
              <a:rPr lang="en" sz="1500"/>
              <a:t> to a consistent resolution, </a:t>
            </a:r>
            <a:r>
              <a:rPr i="1" lang="en" sz="1500"/>
              <a:t>extracting individual frames</a:t>
            </a:r>
            <a:r>
              <a:rPr lang="en" sz="1500"/>
              <a:t> from the video, and applying basic </a:t>
            </a:r>
            <a:r>
              <a:rPr i="1" lang="en" sz="1500"/>
              <a:t>image enhancement techniques</a:t>
            </a:r>
            <a:r>
              <a:rPr lang="en" sz="1500"/>
              <a:t> to improve detection accuracy. </a:t>
            </a:r>
            <a:endParaRPr sz="1500"/>
          </a:p>
          <a:p>
            <a:pPr indent="0" lvl="0" marL="45720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This module is crucial for optimizing the performance of the detection and recognition algorithms, ensuring that they operate efficiently regardless of the input video's quality or format.</a:t>
            </a:r>
            <a:endParaRPr sz="1500"/>
          </a:p>
        </p:txBody>
      </p:sp>
      <p:sp>
        <p:nvSpPr>
          <p:cNvPr id="255" name="Google Shape;255;p32"/>
          <p:cNvSpPr txBox="1"/>
          <p:nvPr>
            <p:ph idx="6" type="subTitle"/>
          </p:nvPr>
        </p:nvSpPr>
        <p:spPr>
          <a:xfrm>
            <a:off x="5461150" y="902900"/>
            <a:ext cx="2904600" cy="46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Preprocessing Module</a:t>
            </a:r>
            <a:endParaRPr/>
          </a:p>
        </p:txBody>
      </p:sp>
      <p:grpSp>
        <p:nvGrpSpPr>
          <p:cNvPr id="256" name="Google Shape;256;p32"/>
          <p:cNvGrpSpPr/>
          <p:nvPr/>
        </p:nvGrpSpPr>
        <p:grpSpPr>
          <a:xfrm>
            <a:off x="456640" y="849851"/>
            <a:ext cx="687183" cy="574379"/>
            <a:chOff x="3075928" y="2445798"/>
            <a:chExt cx="363243" cy="300675"/>
          </a:xfrm>
        </p:grpSpPr>
        <p:sp>
          <p:nvSpPr>
            <p:cNvPr id="257" name="Google Shape;257;p32"/>
            <p:cNvSpPr/>
            <p:nvPr/>
          </p:nvSpPr>
          <p:spPr>
            <a:xfrm>
              <a:off x="3227168" y="2675542"/>
              <a:ext cx="37002" cy="10581"/>
            </a:xfrm>
            <a:custGeom>
              <a:rect b="b" l="l" r="r" t="t"/>
              <a:pathLst>
                <a:path extrusionOk="0" h="334" w="1168">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2"/>
            <p:cNvSpPr/>
            <p:nvPr/>
          </p:nvSpPr>
          <p:spPr>
            <a:xfrm>
              <a:off x="3075928" y="2445798"/>
              <a:ext cx="363243" cy="300675"/>
            </a:xfrm>
            <a:custGeom>
              <a:rect b="b" l="l" r="r" t="t"/>
              <a:pathLst>
                <a:path extrusionOk="0" h="9491" w="11466">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p:nvPr/>
          </p:nvSpPr>
          <p:spPr>
            <a:xfrm>
              <a:off x="3141537" y="2565390"/>
              <a:ext cx="37763" cy="37382"/>
            </a:xfrm>
            <a:custGeom>
              <a:rect b="b" l="l" r="r" t="t"/>
              <a:pathLst>
                <a:path extrusionOk="0" h="1180" w="1192">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2"/>
            <p:cNvSpPr/>
            <p:nvPr/>
          </p:nvSpPr>
          <p:spPr>
            <a:xfrm>
              <a:off x="3185287" y="2565390"/>
              <a:ext cx="73593" cy="10233"/>
            </a:xfrm>
            <a:custGeom>
              <a:rect b="b" l="l" r="r" t="t"/>
              <a:pathLst>
                <a:path extrusionOk="0" h="323" w="2323">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2"/>
            <p:cNvSpPr/>
            <p:nvPr/>
          </p:nvSpPr>
          <p:spPr>
            <a:xfrm>
              <a:off x="3185287" y="2578601"/>
              <a:ext cx="73593" cy="10201"/>
            </a:xfrm>
            <a:custGeom>
              <a:rect b="b" l="l" r="r" t="t"/>
              <a:pathLst>
                <a:path extrusionOk="0" h="322" w="2323">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2"/>
            <p:cNvSpPr/>
            <p:nvPr/>
          </p:nvSpPr>
          <p:spPr>
            <a:xfrm>
              <a:off x="3185287" y="2591811"/>
              <a:ext cx="73212" cy="10201"/>
            </a:xfrm>
            <a:custGeom>
              <a:rect b="b" l="l" r="r" t="t"/>
              <a:pathLst>
                <a:path extrusionOk="0" h="322" w="2311">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2"/>
            <p:cNvSpPr/>
            <p:nvPr/>
          </p:nvSpPr>
          <p:spPr>
            <a:xfrm>
              <a:off x="3141537" y="2609520"/>
              <a:ext cx="37763" cy="37382"/>
            </a:xfrm>
            <a:custGeom>
              <a:rect b="b" l="l" r="r" t="t"/>
              <a:pathLst>
                <a:path extrusionOk="0" h="1180" w="1192">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2"/>
            <p:cNvSpPr/>
            <p:nvPr/>
          </p:nvSpPr>
          <p:spPr>
            <a:xfrm>
              <a:off x="3185287" y="2609520"/>
              <a:ext cx="73212" cy="10613"/>
            </a:xfrm>
            <a:custGeom>
              <a:rect b="b" l="l" r="r" t="t"/>
              <a:pathLst>
                <a:path extrusionOk="0" h="335" w="2311">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2"/>
            <p:cNvSpPr/>
            <p:nvPr/>
          </p:nvSpPr>
          <p:spPr>
            <a:xfrm>
              <a:off x="3185287" y="2622731"/>
              <a:ext cx="73212" cy="10581"/>
            </a:xfrm>
            <a:custGeom>
              <a:rect b="b" l="l" r="r" t="t"/>
              <a:pathLst>
                <a:path extrusionOk="0" h="334" w="2311">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2"/>
            <p:cNvSpPr/>
            <p:nvPr/>
          </p:nvSpPr>
          <p:spPr>
            <a:xfrm>
              <a:off x="3185287" y="2636670"/>
              <a:ext cx="73212" cy="10233"/>
            </a:xfrm>
            <a:custGeom>
              <a:rect b="b" l="l" r="r" t="t"/>
              <a:pathLst>
                <a:path extrusionOk="0" h="323" w="2311">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2"/>
            <p:cNvSpPr/>
            <p:nvPr/>
          </p:nvSpPr>
          <p:spPr>
            <a:xfrm>
              <a:off x="3330509" y="2471839"/>
              <a:ext cx="82653" cy="82653"/>
            </a:xfrm>
            <a:custGeom>
              <a:rect b="b" l="l" r="r" t="t"/>
              <a:pathLst>
                <a:path extrusionOk="0" h="2609" w="2609">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68" name="Google Shape;268;p32"/>
          <p:cNvPicPr preferRelativeResize="0"/>
          <p:nvPr/>
        </p:nvPicPr>
        <p:blipFill>
          <a:blip r:embed="rId3">
            <a:alphaModFix/>
          </a:blip>
          <a:stretch>
            <a:fillRect/>
          </a:stretch>
        </p:blipFill>
        <p:spPr>
          <a:xfrm>
            <a:off x="8000179" y="277150"/>
            <a:ext cx="1141232" cy="1092417"/>
          </a:xfrm>
          <a:prstGeom prst="rect">
            <a:avLst/>
          </a:prstGeom>
          <a:noFill/>
          <a:ln>
            <a:noFill/>
          </a:ln>
        </p:spPr>
      </p:pic>
      <p:grpSp>
        <p:nvGrpSpPr>
          <p:cNvPr id="269" name="Google Shape;269;p32"/>
          <p:cNvGrpSpPr/>
          <p:nvPr/>
        </p:nvGrpSpPr>
        <p:grpSpPr>
          <a:xfrm>
            <a:off x="4680015" y="849851"/>
            <a:ext cx="687183" cy="574379"/>
            <a:chOff x="3075928" y="2445798"/>
            <a:chExt cx="363243" cy="300675"/>
          </a:xfrm>
        </p:grpSpPr>
        <p:sp>
          <p:nvSpPr>
            <p:cNvPr id="270" name="Google Shape;270;p32"/>
            <p:cNvSpPr/>
            <p:nvPr/>
          </p:nvSpPr>
          <p:spPr>
            <a:xfrm>
              <a:off x="3227168" y="2675542"/>
              <a:ext cx="37002" cy="10581"/>
            </a:xfrm>
            <a:custGeom>
              <a:rect b="b" l="l" r="r" t="t"/>
              <a:pathLst>
                <a:path extrusionOk="0" h="334" w="1168">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2"/>
            <p:cNvSpPr/>
            <p:nvPr/>
          </p:nvSpPr>
          <p:spPr>
            <a:xfrm>
              <a:off x="3075928" y="2445798"/>
              <a:ext cx="363243" cy="300675"/>
            </a:xfrm>
            <a:custGeom>
              <a:rect b="b" l="l" r="r" t="t"/>
              <a:pathLst>
                <a:path extrusionOk="0" h="9491" w="11466">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2"/>
            <p:cNvSpPr/>
            <p:nvPr/>
          </p:nvSpPr>
          <p:spPr>
            <a:xfrm>
              <a:off x="3141537" y="2565390"/>
              <a:ext cx="37763" cy="37382"/>
            </a:xfrm>
            <a:custGeom>
              <a:rect b="b" l="l" r="r" t="t"/>
              <a:pathLst>
                <a:path extrusionOk="0" h="1180" w="1192">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2"/>
            <p:cNvSpPr/>
            <p:nvPr/>
          </p:nvSpPr>
          <p:spPr>
            <a:xfrm>
              <a:off x="3185287" y="2565390"/>
              <a:ext cx="73593" cy="10233"/>
            </a:xfrm>
            <a:custGeom>
              <a:rect b="b" l="l" r="r" t="t"/>
              <a:pathLst>
                <a:path extrusionOk="0" h="323" w="2323">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2"/>
            <p:cNvSpPr/>
            <p:nvPr/>
          </p:nvSpPr>
          <p:spPr>
            <a:xfrm>
              <a:off x="3185287" y="2578601"/>
              <a:ext cx="73593" cy="10201"/>
            </a:xfrm>
            <a:custGeom>
              <a:rect b="b" l="l" r="r" t="t"/>
              <a:pathLst>
                <a:path extrusionOk="0" h="322" w="2323">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2"/>
            <p:cNvSpPr/>
            <p:nvPr/>
          </p:nvSpPr>
          <p:spPr>
            <a:xfrm>
              <a:off x="3185287" y="2591811"/>
              <a:ext cx="73212" cy="10201"/>
            </a:xfrm>
            <a:custGeom>
              <a:rect b="b" l="l" r="r" t="t"/>
              <a:pathLst>
                <a:path extrusionOk="0" h="322" w="2311">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2"/>
            <p:cNvSpPr/>
            <p:nvPr/>
          </p:nvSpPr>
          <p:spPr>
            <a:xfrm>
              <a:off x="3141537" y="2609520"/>
              <a:ext cx="37763" cy="37382"/>
            </a:xfrm>
            <a:custGeom>
              <a:rect b="b" l="l" r="r" t="t"/>
              <a:pathLst>
                <a:path extrusionOk="0" h="1180" w="1192">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2"/>
            <p:cNvSpPr/>
            <p:nvPr/>
          </p:nvSpPr>
          <p:spPr>
            <a:xfrm>
              <a:off x="3185287" y="2609520"/>
              <a:ext cx="73212" cy="10613"/>
            </a:xfrm>
            <a:custGeom>
              <a:rect b="b" l="l" r="r" t="t"/>
              <a:pathLst>
                <a:path extrusionOk="0" h="335" w="2311">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2"/>
            <p:cNvSpPr/>
            <p:nvPr/>
          </p:nvSpPr>
          <p:spPr>
            <a:xfrm>
              <a:off x="3185287" y="2622731"/>
              <a:ext cx="73212" cy="10581"/>
            </a:xfrm>
            <a:custGeom>
              <a:rect b="b" l="l" r="r" t="t"/>
              <a:pathLst>
                <a:path extrusionOk="0" h="334" w="2311">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2"/>
            <p:cNvSpPr/>
            <p:nvPr/>
          </p:nvSpPr>
          <p:spPr>
            <a:xfrm>
              <a:off x="3185287" y="2636670"/>
              <a:ext cx="73212" cy="10233"/>
            </a:xfrm>
            <a:custGeom>
              <a:rect b="b" l="l" r="r" t="t"/>
              <a:pathLst>
                <a:path extrusionOk="0" h="323" w="2311">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2"/>
            <p:cNvSpPr/>
            <p:nvPr/>
          </p:nvSpPr>
          <p:spPr>
            <a:xfrm>
              <a:off x="3330509" y="2471839"/>
              <a:ext cx="82653" cy="82653"/>
            </a:xfrm>
            <a:custGeom>
              <a:rect b="b" l="l" r="r" t="t"/>
              <a:pathLst>
                <a:path extrusionOk="0" h="2609" w="2609">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3"/>
          <p:cNvSpPr txBox="1"/>
          <p:nvPr>
            <p:ph idx="4" type="subTitle"/>
          </p:nvPr>
        </p:nvSpPr>
        <p:spPr>
          <a:xfrm>
            <a:off x="1221925" y="381563"/>
            <a:ext cx="5284800" cy="46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Frame Extraction and Video Processing Module</a:t>
            </a:r>
            <a:endParaRPr/>
          </a:p>
        </p:txBody>
      </p:sp>
      <p:sp>
        <p:nvSpPr>
          <p:cNvPr id="286" name="Google Shape;286;p33"/>
          <p:cNvSpPr txBox="1"/>
          <p:nvPr>
            <p:ph idx="1" type="subTitle"/>
          </p:nvPr>
        </p:nvSpPr>
        <p:spPr>
          <a:xfrm>
            <a:off x="521650" y="1103550"/>
            <a:ext cx="7473900" cy="16749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OpenCV for video processing</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OpenCV is a powerful library that allows easy access to video frames, along with capabilities to modify and save frames to a new video.</a:t>
            </a:r>
            <a:endParaRPr sz="1500"/>
          </a:p>
          <a:p>
            <a:pPr indent="0" lvl="0" marL="457200" rtl="0" algn="l">
              <a:spcBef>
                <a:spcPts val="0"/>
              </a:spcBef>
              <a:spcAft>
                <a:spcPts val="0"/>
              </a:spcAft>
              <a:buNone/>
            </a:pPr>
            <a:r>
              <a:rPr lang="en" sz="1500"/>
              <a:t>.</a:t>
            </a:r>
            <a:endParaRPr sz="1500"/>
          </a:p>
        </p:txBody>
      </p:sp>
      <p:grpSp>
        <p:nvGrpSpPr>
          <p:cNvPr id="287" name="Google Shape;287;p33"/>
          <p:cNvGrpSpPr/>
          <p:nvPr/>
        </p:nvGrpSpPr>
        <p:grpSpPr>
          <a:xfrm>
            <a:off x="456640" y="328526"/>
            <a:ext cx="687183" cy="574379"/>
            <a:chOff x="3075928" y="2445798"/>
            <a:chExt cx="363243" cy="300675"/>
          </a:xfrm>
        </p:grpSpPr>
        <p:sp>
          <p:nvSpPr>
            <p:cNvPr id="288" name="Google Shape;288;p33"/>
            <p:cNvSpPr/>
            <p:nvPr/>
          </p:nvSpPr>
          <p:spPr>
            <a:xfrm>
              <a:off x="3227168" y="2675542"/>
              <a:ext cx="37002" cy="10581"/>
            </a:xfrm>
            <a:custGeom>
              <a:rect b="b" l="l" r="r" t="t"/>
              <a:pathLst>
                <a:path extrusionOk="0" h="334" w="1168">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3"/>
            <p:cNvSpPr/>
            <p:nvPr/>
          </p:nvSpPr>
          <p:spPr>
            <a:xfrm>
              <a:off x="3075928" y="2445798"/>
              <a:ext cx="363243" cy="300675"/>
            </a:xfrm>
            <a:custGeom>
              <a:rect b="b" l="l" r="r" t="t"/>
              <a:pathLst>
                <a:path extrusionOk="0" h="9491" w="11466">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3"/>
            <p:cNvSpPr/>
            <p:nvPr/>
          </p:nvSpPr>
          <p:spPr>
            <a:xfrm>
              <a:off x="3141537" y="2565390"/>
              <a:ext cx="37763" cy="37382"/>
            </a:xfrm>
            <a:custGeom>
              <a:rect b="b" l="l" r="r" t="t"/>
              <a:pathLst>
                <a:path extrusionOk="0" h="1180" w="1192">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3"/>
            <p:cNvSpPr/>
            <p:nvPr/>
          </p:nvSpPr>
          <p:spPr>
            <a:xfrm>
              <a:off x="3185287" y="2565390"/>
              <a:ext cx="73593" cy="10233"/>
            </a:xfrm>
            <a:custGeom>
              <a:rect b="b" l="l" r="r" t="t"/>
              <a:pathLst>
                <a:path extrusionOk="0" h="323" w="2323">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
            <p:cNvSpPr/>
            <p:nvPr/>
          </p:nvSpPr>
          <p:spPr>
            <a:xfrm>
              <a:off x="3185287" y="2578601"/>
              <a:ext cx="73593" cy="10201"/>
            </a:xfrm>
            <a:custGeom>
              <a:rect b="b" l="l" r="r" t="t"/>
              <a:pathLst>
                <a:path extrusionOk="0" h="322" w="2323">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3"/>
            <p:cNvSpPr/>
            <p:nvPr/>
          </p:nvSpPr>
          <p:spPr>
            <a:xfrm>
              <a:off x="3185287" y="2591811"/>
              <a:ext cx="73212" cy="10201"/>
            </a:xfrm>
            <a:custGeom>
              <a:rect b="b" l="l" r="r" t="t"/>
              <a:pathLst>
                <a:path extrusionOk="0" h="322" w="2311">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3"/>
            <p:cNvSpPr/>
            <p:nvPr/>
          </p:nvSpPr>
          <p:spPr>
            <a:xfrm>
              <a:off x="3141537" y="2609520"/>
              <a:ext cx="37763" cy="37382"/>
            </a:xfrm>
            <a:custGeom>
              <a:rect b="b" l="l" r="r" t="t"/>
              <a:pathLst>
                <a:path extrusionOk="0" h="1180" w="1192">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3"/>
            <p:cNvSpPr/>
            <p:nvPr/>
          </p:nvSpPr>
          <p:spPr>
            <a:xfrm>
              <a:off x="3185287" y="2609520"/>
              <a:ext cx="73212" cy="10613"/>
            </a:xfrm>
            <a:custGeom>
              <a:rect b="b" l="l" r="r" t="t"/>
              <a:pathLst>
                <a:path extrusionOk="0" h="335" w="2311">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3"/>
            <p:cNvSpPr/>
            <p:nvPr/>
          </p:nvSpPr>
          <p:spPr>
            <a:xfrm>
              <a:off x="3185287" y="2622731"/>
              <a:ext cx="73212" cy="10581"/>
            </a:xfrm>
            <a:custGeom>
              <a:rect b="b" l="l" r="r" t="t"/>
              <a:pathLst>
                <a:path extrusionOk="0" h="334" w="2311">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3"/>
            <p:cNvSpPr/>
            <p:nvPr/>
          </p:nvSpPr>
          <p:spPr>
            <a:xfrm>
              <a:off x="3185287" y="2636670"/>
              <a:ext cx="73212" cy="10233"/>
            </a:xfrm>
            <a:custGeom>
              <a:rect b="b" l="l" r="r" t="t"/>
              <a:pathLst>
                <a:path extrusionOk="0" h="323" w="2311">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3"/>
            <p:cNvSpPr/>
            <p:nvPr/>
          </p:nvSpPr>
          <p:spPr>
            <a:xfrm>
              <a:off x="3330509" y="2471839"/>
              <a:ext cx="82653" cy="82653"/>
            </a:xfrm>
            <a:custGeom>
              <a:rect b="b" l="l" r="r" t="t"/>
              <a:pathLst>
                <a:path extrusionOk="0" h="2609" w="2609">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99" name="Google Shape;299;p33"/>
          <p:cNvPicPr preferRelativeResize="0"/>
          <p:nvPr/>
        </p:nvPicPr>
        <p:blipFill>
          <a:blip r:embed="rId3">
            <a:alphaModFix/>
          </a:blip>
          <a:stretch>
            <a:fillRect/>
          </a:stretch>
        </p:blipFill>
        <p:spPr>
          <a:xfrm>
            <a:off x="657575" y="2615950"/>
            <a:ext cx="3999776" cy="2056275"/>
          </a:xfrm>
          <a:prstGeom prst="rect">
            <a:avLst/>
          </a:prstGeom>
          <a:noFill/>
          <a:ln>
            <a:noFill/>
          </a:ln>
        </p:spPr>
      </p:pic>
      <p:pic>
        <p:nvPicPr>
          <p:cNvPr id="300" name="Google Shape;300;p33"/>
          <p:cNvPicPr preferRelativeResize="0"/>
          <p:nvPr/>
        </p:nvPicPr>
        <p:blipFill>
          <a:blip r:embed="rId4">
            <a:alphaModFix/>
          </a:blip>
          <a:stretch>
            <a:fillRect/>
          </a:stretch>
        </p:blipFill>
        <p:spPr>
          <a:xfrm>
            <a:off x="4810351" y="2615938"/>
            <a:ext cx="3858000" cy="815401"/>
          </a:xfrm>
          <a:prstGeom prst="rect">
            <a:avLst/>
          </a:prstGeom>
          <a:noFill/>
          <a:ln>
            <a:noFill/>
          </a:ln>
        </p:spPr>
      </p:pic>
      <p:pic>
        <p:nvPicPr>
          <p:cNvPr id="301" name="Google Shape;301;p33"/>
          <p:cNvPicPr preferRelativeResize="0"/>
          <p:nvPr/>
        </p:nvPicPr>
        <p:blipFill>
          <a:blip r:embed="rId5">
            <a:alphaModFix/>
          </a:blip>
          <a:stretch>
            <a:fillRect/>
          </a:stretch>
        </p:blipFill>
        <p:spPr>
          <a:xfrm>
            <a:off x="4810350" y="3672250"/>
            <a:ext cx="3894901" cy="782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4"/>
          <p:cNvSpPr txBox="1"/>
          <p:nvPr>
            <p:ph idx="4" type="subTitle"/>
          </p:nvPr>
        </p:nvSpPr>
        <p:spPr>
          <a:xfrm>
            <a:off x="1221925" y="381563"/>
            <a:ext cx="3675300" cy="46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Face Detection Module (MTCNN)</a:t>
            </a:r>
            <a:endParaRPr/>
          </a:p>
        </p:txBody>
      </p:sp>
      <p:sp>
        <p:nvSpPr>
          <p:cNvPr id="307" name="Google Shape;307;p34"/>
          <p:cNvSpPr txBox="1"/>
          <p:nvPr>
            <p:ph idx="1" type="subTitle"/>
          </p:nvPr>
        </p:nvSpPr>
        <p:spPr>
          <a:xfrm>
            <a:off x="456650" y="1006050"/>
            <a:ext cx="8368800" cy="11970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Architecture: MTCNN (Multi-task Cascaded Convolutional Networks).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457200" rtl="0" algn="l">
              <a:spcBef>
                <a:spcPts val="0"/>
              </a:spcBef>
              <a:spcAft>
                <a:spcPts val="0"/>
              </a:spcAft>
              <a:buNone/>
            </a:pPr>
            <a:r>
              <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It</a:t>
            </a:r>
            <a:r>
              <a:rPr lang="en" sz="1500"/>
              <a:t> is highly efficient in localizing faces in images of varying sizes, scales, and angles. It works well even in real-time video processing.</a:t>
            </a:r>
            <a:endParaRPr sz="1500"/>
          </a:p>
        </p:txBody>
      </p:sp>
      <p:grpSp>
        <p:nvGrpSpPr>
          <p:cNvPr id="308" name="Google Shape;308;p34"/>
          <p:cNvGrpSpPr/>
          <p:nvPr/>
        </p:nvGrpSpPr>
        <p:grpSpPr>
          <a:xfrm>
            <a:off x="456640" y="328526"/>
            <a:ext cx="687183" cy="574379"/>
            <a:chOff x="3075928" y="2445798"/>
            <a:chExt cx="363243" cy="300675"/>
          </a:xfrm>
        </p:grpSpPr>
        <p:sp>
          <p:nvSpPr>
            <p:cNvPr id="309" name="Google Shape;309;p34"/>
            <p:cNvSpPr/>
            <p:nvPr/>
          </p:nvSpPr>
          <p:spPr>
            <a:xfrm>
              <a:off x="3227168" y="2675542"/>
              <a:ext cx="37002" cy="10581"/>
            </a:xfrm>
            <a:custGeom>
              <a:rect b="b" l="l" r="r" t="t"/>
              <a:pathLst>
                <a:path extrusionOk="0" h="334" w="1168">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4"/>
            <p:cNvSpPr/>
            <p:nvPr/>
          </p:nvSpPr>
          <p:spPr>
            <a:xfrm>
              <a:off x="3075928" y="2445798"/>
              <a:ext cx="363243" cy="300675"/>
            </a:xfrm>
            <a:custGeom>
              <a:rect b="b" l="l" r="r" t="t"/>
              <a:pathLst>
                <a:path extrusionOk="0" h="9491" w="11466">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4"/>
            <p:cNvSpPr/>
            <p:nvPr/>
          </p:nvSpPr>
          <p:spPr>
            <a:xfrm>
              <a:off x="3141537" y="2565390"/>
              <a:ext cx="37763" cy="37382"/>
            </a:xfrm>
            <a:custGeom>
              <a:rect b="b" l="l" r="r" t="t"/>
              <a:pathLst>
                <a:path extrusionOk="0" h="1180" w="1192">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4"/>
            <p:cNvSpPr/>
            <p:nvPr/>
          </p:nvSpPr>
          <p:spPr>
            <a:xfrm>
              <a:off x="3185287" y="2565390"/>
              <a:ext cx="73593" cy="10233"/>
            </a:xfrm>
            <a:custGeom>
              <a:rect b="b" l="l" r="r" t="t"/>
              <a:pathLst>
                <a:path extrusionOk="0" h="323" w="2323">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4"/>
            <p:cNvSpPr/>
            <p:nvPr/>
          </p:nvSpPr>
          <p:spPr>
            <a:xfrm>
              <a:off x="3185287" y="2578601"/>
              <a:ext cx="73593" cy="10201"/>
            </a:xfrm>
            <a:custGeom>
              <a:rect b="b" l="l" r="r" t="t"/>
              <a:pathLst>
                <a:path extrusionOk="0" h="322" w="2323">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4"/>
            <p:cNvSpPr/>
            <p:nvPr/>
          </p:nvSpPr>
          <p:spPr>
            <a:xfrm>
              <a:off x="3185287" y="2591811"/>
              <a:ext cx="73212" cy="10201"/>
            </a:xfrm>
            <a:custGeom>
              <a:rect b="b" l="l" r="r" t="t"/>
              <a:pathLst>
                <a:path extrusionOk="0" h="322" w="2311">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4"/>
            <p:cNvSpPr/>
            <p:nvPr/>
          </p:nvSpPr>
          <p:spPr>
            <a:xfrm>
              <a:off x="3141537" y="2609520"/>
              <a:ext cx="37763" cy="37382"/>
            </a:xfrm>
            <a:custGeom>
              <a:rect b="b" l="l" r="r" t="t"/>
              <a:pathLst>
                <a:path extrusionOk="0" h="1180" w="1192">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4"/>
            <p:cNvSpPr/>
            <p:nvPr/>
          </p:nvSpPr>
          <p:spPr>
            <a:xfrm>
              <a:off x="3185287" y="2609520"/>
              <a:ext cx="73212" cy="10613"/>
            </a:xfrm>
            <a:custGeom>
              <a:rect b="b" l="l" r="r" t="t"/>
              <a:pathLst>
                <a:path extrusionOk="0" h="335" w="2311">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4"/>
            <p:cNvSpPr/>
            <p:nvPr/>
          </p:nvSpPr>
          <p:spPr>
            <a:xfrm>
              <a:off x="3185287" y="2622731"/>
              <a:ext cx="73212" cy="10581"/>
            </a:xfrm>
            <a:custGeom>
              <a:rect b="b" l="l" r="r" t="t"/>
              <a:pathLst>
                <a:path extrusionOk="0" h="334" w="2311">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4"/>
            <p:cNvSpPr/>
            <p:nvPr/>
          </p:nvSpPr>
          <p:spPr>
            <a:xfrm>
              <a:off x="3185287" y="2636670"/>
              <a:ext cx="73212" cy="10233"/>
            </a:xfrm>
            <a:custGeom>
              <a:rect b="b" l="l" r="r" t="t"/>
              <a:pathLst>
                <a:path extrusionOk="0" h="323" w="2311">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4"/>
            <p:cNvSpPr/>
            <p:nvPr/>
          </p:nvSpPr>
          <p:spPr>
            <a:xfrm>
              <a:off x="3330509" y="2471839"/>
              <a:ext cx="82653" cy="82653"/>
            </a:xfrm>
            <a:custGeom>
              <a:rect b="b" l="l" r="r" t="t"/>
              <a:pathLst>
                <a:path extrusionOk="0" h="2609" w="2609">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20" name="Google Shape;320;p34"/>
          <p:cNvPicPr preferRelativeResize="0"/>
          <p:nvPr/>
        </p:nvPicPr>
        <p:blipFill>
          <a:blip r:embed="rId3">
            <a:alphaModFix/>
          </a:blip>
          <a:stretch>
            <a:fillRect/>
          </a:stretch>
        </p:blipFill>
        <p:spPr>
          <a:xfrm>
            <a:off x="1482650" y="2906526"/>
            <a:ext cx="2133225" cy="1453676"/>
          </a:xfrm>
          <a:prstGeom prst="rect">
            <a:avLst/>
          </a:prstGeom>
          <a:noFill/>
          <a:ln>
            <a:noFill/>
          </a:ln>
        </p:spPr>
      </p:pic>
      <p:pic>
        <p:nvPicPr>
          <p:cNvPr id="321" name="Google Shape;321;p34"/>
          <p:cNvPicPr preferRelativeResize="0"/>
          <p:nvPr/>
        </p:nvPicPr>
        <p:blipFill>
          <a:blip r:embed="rId4">
            <a:alphaModFix/>
          </a:blip>
          <a:stretch>
            <a:fillRect/>
          </a:stretch>
        </p:blipFill>
        <p:spPr>
          <a:xfrm>
            <a:off x="1714500" y="1421675"/>
            <a:ext cx="5443926" cy="779375"/>
          </a:xfrm>
          <a:prstGeom prst="rect">
            <a:avLst/>
          </a:prstGeom>
          <a:noFill/>
          <a:ln>
            <a:noFill/>
          </a:ln>
        </p:spPr>
      </p:pic>
      <p:sp>
        <p:nvSpPr>
          <p:cNvPr id="322" name="Google Shape;322;p34"/>
          <p:cNvSpPr txBox="1"/>
          <p:nvPr/>
        </p:nvSpPr>
        <p:spPr>
          <a:xfrm>
            <a:off x="1221925" y="4360200"/>
            <a:ext cx="3585300" cy="2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Blinker"/>
                <a:ea typeface="Blinker"/>
                <a:cs typeface="Blinker"/>
                <a:sym typeface="Blinker"/>
              </a:rPr>
              <a:t>Fig 03. Bounding Box on Reference Image</a:t>
            </a:r>
            <a:endParaRPr sz="1200">
              <a:solidFill>
                <a:schemeClr val="dk1"/>
              </a:solidFill>
              <a:latin typeface="Blinker"/>
              <a:ea typeface="Blinker"/>
              <a:cs typeface="Blinker"/>
              <a:sym typeface="Blinker"/>
            </a:endParaRPr>
          </a:p>
        </p:txBody>
      </p:sp>
      <p:sp>
        <p:nvSpPr>
          <p:cNvPr id="323" name="Google Shape;323;p34"/>
          <p:cNvSpPr txBox="1"/>
          <p:nvPr/>
        </p:nvSpPr>
        <p:spPr>
          <a:xfrm>
            <a:off x="5466025" y="4303325"/>
            <a:ext cx="2888400" cy="2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Blinker"/>
                <a:ea typeface="Blinker"/>
                <a:cs typeface="Blinker"/>
                <a:sym typeface="Blinker"/>
              </a:rPr>
              <a:t>Fig 04. Performance Metrics </a:t>
            </a:r>
            <a:endParaRPr sz="1200">
              <a:solidFill>
                <a:schemeClr val="dk1"/>
              </a:solidFill>
              <a:latin typeface="Blinker"/>
              <a:ea typeface="Blinker"/>
              <a:cs typeface="Blinker"/>
              <a:sym typeface="Blinker"/>
            </a:endParaRPr>
          </a:p>
        </p:txBody>
      </p:sp>
      <p:pic>
        <p:nvPicPr>
          <p:cNvPr id="324" name="Google Shape;324;p34"/>
          <p:cNvPicPr preferRelativeResize="0"/>
          <p:nvPr/>
        </p:nvPicPr>
        <p:blipFill>
          <a:blip r:embed="rId5">
            <a:alphaModFix/>
          </a:blip>
          <a:stretch>
            <a:fillRect/>
          </a:stretch>
        </p:blipFill>
        <p:spPr>
          <a:xfrm>
            <a:off x="5206500" y="2914225"/>
            <a:ext cx="2400300" cy="1438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5"/>
          <p:cNvSpPr txBox="1"/>
          <p:nvPr>
            <p:ph idx="4" type="subTitle"/>
          </p:nvPr>
        </p:nvSpPr>
        <p:spPr>
          <a:xfrm>
            <a:off x="1221925" y="381563"/>
            <a:ext cx="5284800" cy="46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Face Recognition Module </a:t>
            </a:r>
            <a:endParaRPr/>
          </a:p>
        </p:txBody>
      </p:sp>
      <p:sp>
        <p:nvSpPr>
          <p:cNvPr id="330" name="Google Shape;330;p35"/>
          <p:cNvSpPr txBox="1"/>
          <p:nvPr>
            <p:ph idx="1" type="subTitle"/>
          </p:nvPr>
        </p:nvSpPr>
        <p:spPr>
          <a:xfrm>
            <a:off x="456650" y="1006050"/>
            <a:ext cx="4022700" cy="34467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Architecture: </a:t>
            </a:r>
            <a:r>
              <a:rPr b="1" lang="en" sz="1500"/>
              <a:t>Facenet model</a:t>
            </a:r>
            <a:r>
              <a:rPr lang="en" sz="1500"/>
              <a:t> (based on Inception Resnet v1).</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FaceNet is used for </a:t>
            </a:r>
            <a:r>
              <a:rPr i="1" lang="en" sz="1500"/>
              <a:t>creating an embedding for each detected face</a:t>
            </a:r>
            <a:r>
              <a:rPr lang="en" sz="1500"/>
              <a:t>. By computing embeddings, we can later compare them using distance metrics (e.g., Euclidean distance) to match faces across frames or with a reference face.</a:t>
            </a:r>
            <a:endParaRPr sz="1500"/>
          </a:p>
          <a:p>
            <a:pPr indent="0" lvl="0" marL="457200" rtl="0" algn="l">
              <a:spcBef>
                <a:spcPts val="0"/>
              </a:spcBef>
              <a:spcAft>
                <a:spcPts val="0"/>
              </a:spcAft>
              <a:buNone/>
            </a:pPr>
            <a:r>
              <a:rPr lang="en" sz="1500"/>
              <a:t>.</a:t>
            </a:r>
            <a:endParaRPr sz="1500"/>
          </a:p>
        </p:txBody>
      </p:sp>
      <p:grpSp>
        <p:nvGrpSpPr>
          <p:cNvPr id="331" name="Google Shape;331;p35"/>
          <p:cNvGrpSpPr/>
          <p:nvPr/>
        </p:nvGrpSpPr>
        <p:grpSpPr>
          <a:xfrm>
            <a:off x="456640" y="328526"/>
            <a:ext cx="687183" cy="574379"/>
            <a:chOff x="3075928" y="2445798"/>
            <a:chExt cx="363243" cy="300675"/>
          </a:xfrm>
        </p:grpSpPr>
        <p:sp>
          <p:nvSpPr>
            <p:cNvPr id="332" name="Google Shape;332;p35"/>
            <p:cNvSpPr/>
            <p:nvPr/>
          </p:nvSpPr>
          <p:spPr>
            <a:xfrm>
              <a:off x="3227168" y="2675542"/>
              <a:ext cx="37002" cy="10581"/>
            </a:xfrm>
            <a:custGeom>
              <a:rect b="b" l="l" r="r" t="t"/>
              <a:pathLst>
                <a:path extrusionOk="0" h="334" w="1168">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5"/>
            <p:cNvSpPr/>
            <p:nvPr/>
          </p:nvSpPr>
          <p:spPr>
            <a:xfrm>
              <a:off x="3075928" y="2445798"/>
              <a:ext cx="363243" cy="300675"/>
            </a:xfrm>
            <a:custGeom>
              <a:rect b="b" l="l" r="r" t="t"/>
              <a:pathLst>
                <a:path extrusionOk="0" h="9491" w="11466">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5"/>
            <p:cNvSpPr/>
            <p:nvPr/>
          </p:nvSpPr>
          <p:spPr>
            <a:xfrm>
              <a:off x="3141537" y="2565390"/>
              <a:ext cx="37763" cy="37382"/>
            </a:xfrm>
            <a:custGeom>
              <a:rect b="b" l="l" r="r" t="t"/>
              <a:pathLst>
                <a:path extrusionOk="0" h="1180" w="1192">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5"/>
            <p:cNvSpPr/>
            <p:nvPr/>
          </p:nvSpPr>
          <p:spPr>
            <a:xfrm>
              <a:off x="3185287" y="2565390"/>
              <a:ext cx="73593" cy="10233"/>
            </a:xfrm>
            <a:custGeom>
              <a:rect b="b" l="l" r="r" t="t"/>
              <a:pathLst>
                <a:path extrusionOk="0" h="323" w="2323">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5"/>
            <p:cNvSpPr/>
            <p:nvPr/>
          </p:nvSpPr>
          <p:spPr>
            <a:xfrm>
              <a:off x="3185287" y="2578601"/>
              <a:ext cx="73593" cy="10201"/>
            </a:xfrm>
            <a:custGeom>
              <a:rect b="b" l="l" r="r" t="t"/>
              <a:pathLst>
                <a:path extrusionOk="0" h="322" w="2323">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5"/>
            <p:cNvSpPr/>
            <p:nvPr/>
          </p:nvSpPr>
          <p:spPr>
            <a:xfrm>
              <a:off x="3185287" y="2591811"/>
              <a:ext cx="73212" cy="10201"/>
            </a:xfrm>
            <a:custGeom>
              <a:rect b="b" l="l" r="r" t="t"/>
              <a:pathLst>
                <a:path extrusionOk="0" h="322" w="2311">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5"/>
            <p:cNvSpPr/>
            <p:nvPr/>
          </p:nvSpPr>
          <p:spPr>
            <a:xfrm>
              <a:off x="3141537" y="2609520"/>
              <a:ext cx="37763" cy="37382"/>
            </a:xfrm>
            <a:custGeom>
              <a:rect b="b" l="l" r="r" t="t"/>
              <a:pathLst>
                <a:path extrusionOk="0" h="1180" w="1192">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5"/>
            <p:cNvSpPr/>
            <p:nvPr/>
          </p:nvSpPr>
          <p:spPr>
            <a:xfrm>
              <a:off x="3185287" y="2609520"/>
              <a:ext cx="73212" cy="10613"/>
            </a:xfrm>
            <a:custGeom>
              <a:rect b="b" l="l" r="r" t="t"/>
              <a:pathLst>
                <a:path extrusionOk="0" h="335" w="2311">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5"/>
            <p:cNvSpPr/>
            <p:nvPr/>
          </p:nvSpPr>
          <p:spPr>
            <a:xfrm>
              <a:off x="3185287" y="2622731"/>
              <a:ext cx="73212" cy="10581"/>
            </a:xfrm>
            <a:custGeom>
              <a:rect b="b" l="l" r="r" t="t"/>
              <a:pathLst>
                <a:path extrusionOk="0" h="334" w="2311">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5"/>
            <p:cNvSpPr/>
            <p:nvPr/>
          </p:nvSpPr>
          <p:spPr>
            <a:xfrm>
              <a:off x="3185287" y="2636670"/>
              <a:ext cx="73212" cy="10233"/>
            </a:xfrm>
            <a:custGeom>
              <a:rect b="b" l="l" r="r" t="t"/>
              <a:pathLst>
                <a:path extrusionOk="0" h="323" w="2311">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5"/>
            <p:cNvSpPr/>
            <p:nvPr/>
          </p:nvSpPr>
          <p:spPr>
            <a:xfrm>
              <a:off x="3330509" y="2471839"/>
              <a:ext cx="82653" cy="82653"/>
            </a:xfrm>
            <a:custGeom>
              <a:rect b="b" l="l" r="r" t="t"/>
              <a:pathLst>
                <a:path extrusionOk="0" h="2609" w="2609">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43" name="Google Shape;343;p35"/>
          <p:cNvPicPr preferRelativeResize="0"/>
          <p:nvPr/>
        </p:nvPicPr>
        <p:blipFill>
          <a:blip r:embed="rId3">
            <a:alphaModFix/>
          </a:blip>
          <a:stretch>
            <a:fillRect/>
          </a:stretch>
        </p:blipFill>
        <p:spPr>
          <a:xfrm>
            <a:off x="5046975" y="1112063"/>
            <a:ext cx="3046849" cy="751825"/>
          </a:xfrm>
          <a:prstGeom prst="rect">
            <a:avLst/>
          </a:prstGeom>
          <a:noFill/>
          <a:ln>
            <a:noFill/>
          </a:ln>
        </p:spPr>
      </p:pic>
      <p:pic>
        <p:nvPicPr>
          <p:cNvPr id="344" name="Google Shape;344;p35"/>
          <p:cNvPicPr preferRelativeResize="0"/>
          <p:nvPr/>
        </p:nvPicPr>
        <p:blipFill rotWithShape="1">
          <a:blip r:embed="rId4">
            <a:alphaModFix/>
          </a:blip>
          <a:srcRect b="0" l="0" r="0" t="9445"/>
          <a:stretch/>
        </p:blipFill>
        <p:spPr>
          <a:xfrm>
            <a:off x="4631650" y="2485275"/>
            <a:ext cx="4022699" cy="19674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txBox="1"/>
          <p:nvPr>
            <p:ph idx="4" type="subTitle"/>
          </p:nvPr>
        </p:nvSpPr>
        <p:spPr>
          <a:xfrm>
            <a:off x="1221925" y="381563"/>
            <a:ext cx="5284800" cy="46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Face Blurring Module</a:t>
            </a:r>
            <a:endParaRPr/>
          </a:p>
        </p:txBody>
      </p:sp>
      <p:sp>
        <p:nvSpPr>
          <p:cNvPr id="350" name="Google Shape;350;p36"/>
          <p:cNvSpPr txBox="1"/>
          <p:nvPr>
            <p:ph idx="1" type="subTitle"/>
          </p:nvPr>
        </p:nvSpPr>
        <p:spPr>
          <a:xfrm>
            <a:off x="456650" y="1006050"/>
            <a:ext cx="8368800" cy="1313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Technique Used: </a:t>
            </a:r>
            <a:r>
              <a:rPr b="1" lang="en" sz="1500"/>
              <a:t>Gaussian Blur.</a:t>
            </a:r>
            <a:endParaRPr b="1" sz="1500"/>
          </a:p>
          <a:p>
            <a:pPr indent="0" lvl="0" marL="0" rtl="0" algn="l">
              <a:spcBef>
                <a:spcPts val="0"/>
              </a:spcBef>
              <a:spcAft>
                <a:spcPts val="0"/>
              </a:spcAft>
              <a:buNone/>
            </a:pPr>
            <a:r>
              <a:t/>
            </a:r>
            <a:endParaRPr sz="1500"/>
          </a:p>
          <a:p>
            <a:pPr indent="-323850" lvl="0" marL="457200" rtl="0" algn="l">
              <a:spcBef>
                <a:spcPts val="0"/>
              </a:spcBef>
              <a:spcAft>
                <a:spcPts val="0"/>
              </a:spcAft>
              <a:buSzPts val="1500"/>
              <a:buAutoNum type="arabicPeriod"/>
            </a:pPr>
            <a:r>
              <a:rPr lang="en" sz="1500"/>
              <a:t>Gaussian blur is applied to the face region to anonymize it. The blur smooths the pixel values of the face area, making it unrecognizable.</a:t>
            </a:r>
            <a:endParaRPr sz="1500"/>
          </a:p>
          <a:p>
            <a:pPr indent="0" lvl="0" marL="457200" rtl="0" algn="l">
              <a:spcBef>
                <a:spcPts val="0"/>
              </a:spcBef>
              <a:spcAft>
                <a:spcPts val="0"/>
              </a:spcAft>
              <a:buNone/>
            </a:pPr>
            <a:r>
              <a:rPr lang="en" sz="1500"/>
              <a:t>.</a:t>
            </a:r>
            <a:endParaRPr sz="1500"/>
          </a:p>
        </p:txBody>
      </p:sp>
      <p:grpSp>
        <p:nvGrpSpPr>
          <p:cNvPr id="351" name="Google Shape;351;p36"/>
          <p:cNvGrpSpPr/>
          <p:nvPr/>
        </p:nvGrpSpPr>
        <p:grpSpPr>
          <a:xfrm>
            <a:off x="456640" y="328526"/>
            <a:ext cx="687183" cy="574379"/>
            <a:chOff x="3075928" y="2445798"/>
            <a:chExt cx="363243" cy="300675"/>
          </a:xfrm>
        </p:grpSpPr>
        <p:sp>
          <p:nvSpPr>
            <p:cNvPr id="352" name="Google Shape;352;p36"/>
            <p:cNvSpPr/>
            <p:nvPr/>
          </p:nvSpPr>
          <p:spPr>
            <a:xfrm>
              <a:off x="3227168" y="2675542"/>
              <a:ext cx="37002" cy="10581"/>
            </a:xfrm>
            <a:custGeom>
              <a:rect b="b" l="l" r="r" t="t"/>
              <a:pathLst>
                <a:path extrusionOk="0" h="334" w="1168">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6"/>
            <p:cNvSpPr/>
            <p:nvPr/>
          </p:nvSpPr>
          <p:spPr>
            <a:xfrm>
              <a:off x="3075928" y="2445798"/>
              <a:ext cx="363243" cy="300675"/>
            </a:xfrm>
            <a:custGeom>
              <a:rect b="b" l="l" r="r" t="t"/>
              <a:pathLst>
                <a:path extrusionOk="0" h="9491" w="11466">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6"/>
            <p:cNvSpPr/>
            <p:nvPr/>
          </p:nvSpPr>
          <p:spPr>
            <a:xfrm>
              <a:off x="3141537" y="2565390"/>
              <a:ext cx="37763" cy="37382"/>
            </a:xfrm>
            <a:custGeom>
              <a:rect b="b" l="l" r="r" t="t"/>
              <a:pathLst>
                <a:path extrusionOk="0" h="1180" w="1192">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6"/>
            <p:cNvSpPr/>
            <p:nvPr/>
          </p:nvSpPr>
          <p:spPr>
            <a:xfrm>
              <a:off x="3185287" y="2565390"/>
              <a:ext cx="73593" cy="10233"/>
            </a:xfrm>
            <a:custGeom>
              <a:rect b="b" l="l" r="r" t="t"/>
              <a:pathLst>
                <a:path extrusionOk="0" h="323" w="2323">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6"/>
            <p:cNvSpPr/>
            <p:nvPr/>
          </p:nvSpPr>
          <p:spPr>
            <a:xfrm>
              <a:off x="3185287" y="2578601"/>
              <a:ext cx="73593" cy="10201"/>
            </a:xfrm>
            <a:custGeom>
              <a:rect b="b" l="l" r="r" t="t"/>
              <a:pathLst>
                <a:path extrusionOk="0" h="322" w="2323">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6"/>
            <p:cNvSpPr/>
            <p:nvPr/>
          </p:nvSpPr>
          <p:spPr>
            <a:xfrm>
              <a:off x="3185287" y="2591811"/>
              <a:ext cx="73212" cy="10201"/>
            </a:xfrm>
            <a:custGeom>
              <a:rect b="b" l="l" r="r" t="t"/>
              <a:pathLst>
                <a:path extrusionOk="0" h="322" w="2311">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6"/>
            <p:cNvSpPr/>
            <p:nvPr/>
          </p:nvSpPr>
          <p:spPr>
            <a:xfrm>
              <a:off x="3141537" y="2609520"/>
              <a:ext cx="37763" cy="37382"/>
            </a:xfrm>
            <a:custGeom>
              <a:rect b="b" l="l" r="r" t="t"/>
              <a:pathLst>
                <a:path extrusionOk="0" h="1180" w="1192">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6"/>
            <p:cNvSpPr/>
            <p:nvPr/>
          </p:nvSpPr>
          <p:spPr>
            <a:xfrm>
              <a:off x="3185287" y="2609520"/>
              <a:ext cx="73212" cy="10613"/>
            </a:xfrm>
            <a:custGeom>
              <a:rect b="b" l="l" r="r" t="t"/>
              <a:pathLst>
                <a:path extrusionOk="0" h="335" w="2311">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6"/>
            <p:cNvSpPr/>
            <p:nvPr/>
          </p:nvSpPr>
          <p:spPr>
            <a:xfrm>
              <a:off x="3185287" y="2622731"/>
              <a:ext cx="73212" cy="10581"/>
            </a:xfrm>
            <a:custGeom>
              <a:rect b="b" l="l" r="r" t="t"/>
              <a:pathLst>
                <a:path extrusionOk="0" h="334" w="2311">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6"/>
            <p:cNvSpPr/>
            <p:nvPr/>
          </p:nvSpPr>
          <p:spPr>
            <a:xfrm>
              <a:off x="3185287" y="2636670"/>
              <a:ext cx="73212" cy="10233"/>
            </a:xfrm>
            <a:custGeom>
              <a:rect b="b" l="l" r="r" t="t"/>
              <a:pathLst>
                <a:path extrusionOk="0" h="323" w="2311">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6"/>
            <p:cNvSpPr/>
            <p:nvPr/>
          </p:nvSpPr>
          <p:spPr>
            <a:xfrm>
              <a:off x="3330509" y="2471839"/>
              <a:ext cx="82653" cy="82653"/>
            </a:xfrm>
            <a:custGeom>
              <a:rect b="b" l="l" r="r" t="t"/>
              <a:pathLst>
                <a:path extrusionOk="0" h="2609" w="2609">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63" name="Google Shape;363;p36"/>
          <p:cNvPicPr preferRelativeResize="0"/>
          <p:nvPr/>
        </p:nvPicPr>
        <p:blipFill>
          <a:blip r:embed="rId3">
            <a:alphaModFix/>
          </a:blip>
          <a:stretch>
            <a:fillRect/>
          </a:stretch>
        </p:blipFill>
        <p:spPr>
          <a:xfrm>
            <a:off x="2106350" y="2188775"/>
            <a:ext cx="5209075" cy="939625"/>
          </a:xfrm>
          <a:prstGeom prst="rect">
            <a:avLst/>
          </a:prstGeom>
          <a:noFill/>
          <a:ln>
            <a:noFill/>
          </a:ln>
        </p:spPr>
      </p:pic>
      <p:pic>
        <p:nvPicPr>
          <p:cNvPr id="364" name="Google Shape;364;p36"/>
          <p:cNvPicPr preferRelativeResize="0"/>
          <p:nvPr/>
        </p:nvPicPr>
        <p:blipFill>
          <a:blip r:embed="rId4">
            <a:alphaModFix/>
          </a:blip>
          <a:stretch>
            <a:fillRect/>
          </a:stretch>
        </p:blipFill>
        <p:spPr>
          <a:xfrm>
            <a:off x="1037200" y="3220804"/>
            <a:ext cx="7347377" cy="162277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7"/>
          <p:cNvSpPr txBox="1"/>
          <p:nvPr>
            <p:ph idx="4" type="subTitle"/>
          </p:nvPr>
        </p:nvSpPr>
        <p:spPr>
          <a:xfrm>
            <a:off x="1221925" y="381563"/>
            <a:ext cx="5284800" cy="46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Face Blurring Module</a:t>
            </a:r>
            <a:endParaRPr/>
          </a:p>
        </p:txBody>
      </p:sp>
      <p:sp>
        <p:nvSpPr>
          <p:cNvPr id="370" name="Google Shape;370;p37"/>
          <p:cNvSpPr txBox="1"/>
          <p:nvPr>
            <p:ph idx="1" type="subTitle"/>
          </p:nvPr>
        </p:nvSpPr>
        <p:spPr>
          <a:xfrm>
            <a:off x="456650" y="1006050"/>
            <a:ext cx="3957300" cy="2986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eriod"/>
            </a:pPr>
            <a:r>
              <a:rPr lang="en" sz="1500"/>
              <a:t>Technique Used: </a:t>
            </a:r>
            <a:r>
              <a:rPr b="1" lang="en" sz="1500"/>
              <a:t>Mosaic(Pixelation), Dot and Triangle Blur</a:t>
            </a:r>
            <a:r>
              <a:rPr b="1" lang="en" sz="1500"/>
              <a:t>.</a:t>
            </a:r>
            <a:endParaRPr b="1" sz="1500"/>
          </a:p>
          <a:p>
            <a:pPr indent="0" lvl="0" marL="457200" rtl="0" algn="l">
              <a:spcBef>
                <a:spcPts val="0"/>
              </a:spcBef>
              <a:spcAft>
                <a:spcPts val="0"/>
              </a:spcAft>
              <a:buNone/>
            </a:pPr>
            <a:r>
              <a:t/>
            </a:r>
            <a:endParaRPr b="1" sz="1500"/>
          </a:p>
          <a:p>
            <a:pPr indent="-323850" lvl="0" marL="457200" rtl="0" algn="l">
              <a:spcBef>
                <a:spcPts val="0"/>
              </a:spcBef>
              <a:spcAft>
                <a:spcPts val="0"/>
              </a:spcAft>
              <a:buSzPts val="1500"/>
              <a:buAutoNum type="arabicPeriod"/>
            </a:pPr>
            <a:r>
              <a:rPr lang="en" sz="1500"/>
              <a:t> Custom cv2 blurs</a:t>
            </a:r>
            <a:endParaRPr sz="1500"/>
          </a:p>
          <a:p>
            <a:pPr indent="0" lvl="0" marL="0" rtl="0" algn="l">
              <a:spcBef>
                <a:spcPts val="0"/>
              </a:spcBef>
              <a:spcAft>
                <a:spcPts val="0"/>
              </a:spcAft>
              <a:buNone/>
            </a:pPr>
            <a:r>
              <a:t/>
            </a:r>
            <a:endParaRPr sz="1500"/>
          </a:p>
          <a:p>
            <a:pPr indent="0" lvl="0" marL="457200" rtl="0" algn="l">
              <a:spcBef>
                <a:spcPts val="0"/>
              </a:spcBef>
              <a:spcAft>
                <a:spcPts val="0"/>
              </a:spcAft>
              <a:buNone/>
            </a:pPr>
            <a:r>
              <a:t/>
            </a:r>
            <a:endParaRPr sz="1500"/>
          </a:p>
          <a:p>
            <a:pPr indent="0" lvl="0" marL="457200" rtl="0" algn="l">
              <a:spcBef>
                <a:spcPts val="0"/>
              </a:spcBef>
              <a:spcAft>
                <a:spcPts val="0"/>
              </a:spcAft>
              <a:buNone/>
            </a:pPr>
            <a:r>
              <a:rPr lang="en" sz="1500"/>
              <a:t>.</a:t>
            </a:r>
            <a:endParaRPr sz="1500"/>
          </a:p>
        </p:txBody>
      </p:sp>
      <p:grpSp>
        <p:nvGrpSpPr>
          <p:cNvPr id="371" name="Google Shape;371;p37"/>
          <p:cNvGrpSpPr/>
          <p:nvPr/>
        </p:nvGrpSpPr>
        <p:grpSpPr>
          <a:xfrm>
            <a:off x="456640" y="328526"/>
            <a:ext cx="687183" cy="574379"/>
            <a:chOff x="3075928" y="2445798"/>
            <a:chExt cx="363243" cy="300675"/>
          </a:xfrm>
        </p:grpSpPr>
        <p:sp>
          <p:nvSpPr>
            <p:cNvPr id="372" name="Google Shape;372;p37"/>
            <p:cNvSpPr/>
            <p:nvPr/>
          </p:nvSpPr>
          <p:spPr>
            <a:xfrm>
              <a:off x="3227168" y="2675542"/>
              <a:ext cx="37002" cy="10581"/>
            </a:xfrm>
            <a:custGeom>
              <a:rect b="b" l="l" r="r" t="t"/>
              <a:pathLst>
                <a:path extrusionOk="0" h="334" w="1168">
                  <a:moveTo>
                    <a:pt x="167" y="0"/>
                  </a:moveTo>
                  <a:cubicBezTo>
                    <a:pt x="84" y="0"/>
                    <a:pt x="1" y="72"/>
                    <a:pt x="1" y="167"/>
                  </a:cubicBezTo>
                  <a:cubicBezTo>
                    <a:pt x="1" y="262"/>
                    <a:pt x="84" y="334"/>
                    <a:pt x="167" y="334"/>
                  </a:cubicBezTo>
                  <a:lnTo>
                    <a:pt x="1001" y="334"/>
                  </a:lnTo>
                  <a:cubicBezTo>
                    <a:pt x="1096" y="334"/>
                    <a:pt x="1167" y="262"/>
                    <a:pt x="1167" y="167"/>
                  </a:cubicBezTo>
                  <a:cubicBezTo>
                    <a:pt x="1167" y="72"/>
                    <a:pt x="1096" y="0"/>
                    <a:pt x="1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7"/>
            <p:cNvSpPr/>
            <p:nvPr/>
          </p:nvSpPr>
          <p:spPr>
            <a:xfrm>
              <a:off x="3075928" y="2445798"/>
              <a:ext cx="363243" cy="300675"/>
            </a:xfrm>
            <a:custGeom>
              <a:rect b="b" l="l" r="r" t="t"/>
              <a:pathLst>
                <a:path extrusionOk="0" h="9491" w="11466">
                  <a:moveTo>
                    <a:pt x="7299" y="2787"/>
                  </a:moveTo>
                  <a:cubicBezTo>
                    <a:pt x="7322" y="2895"/>
                    <a:pt x="7370" y="3002"/>
                    <a:pt x="7418" y="3085"/>
                  </a:cubicBezTo>
                  <a:lnTo>
                    <a:pt x="1548" y="3085"/>
                  </a:lnTo>
                  <a:lnTo>
                    <a:pt x="1548" y="2787"/>
                  </a:lnTo>
                  <a:close/>
                  <a:moveTo>
                    <a:pt x="8323" y="4121"/>
                  </a:moveTo>
                  <a:lnTo>
                    <a:pt x="8323" y="6026"/>
                  </a:lnTo>
                  <a:lnTo>
                    <a:pt x="6418" y="6026"/>
                  </a:lnTo>
                  <a:lnTo>
                    <a:pt x="6418" y="4121"/>
                  </a:lnTo>
                  <a:close/>
                  <a:moveTo>
                    <a:pt x="6370" y="8467"/>
                  </a:moveTo>
                  <a:lnTo>
                    <a:pt x="6477" y="8550"/>
                  </a:lnTo>
                  <a:lnTo>
                    <a:pt x="4227" y="8550"/>
                  </a:lnTo>
                  <a:lnTo>
                    <a:pt x="4334" y="8467"/>
                  </a:lnTo>
                  <a:close/>
                  <a:moveTo>
                    <a:pt x="9835" y="8050"/>
                  </a:moveTo>
                  <a:lnTo>
                    <a:pt x="10216" y="8550"/>
                  </a:lnTo>
                  <a:lnTo>
                    <a:pt x="7037" y="8550"/>
                  </a:lnTo>
                  <a:lnTo>
                    <a:pt x="6549" y="8169"/>
                  </a:lnTo>
                  <a:cubicBezTo>
                    <a:pt x="6525" y="8133"/>
                    <a:pt x="6489" y="8133"/>
                    <a:pt x="6441" y="8133"/>
                  </a:cubicBezTo>
                  <a:lnTo>
                    <a:pt x="4286" y="8133"/>
                  </a:lnTo>
                  <a:cubicBezTo>
                    <a:pt x="4239" y="8133"/>
                    <a:pt x="4215" y="8145"/>
                    <a:pt x="4179" y="8169"/>
                  </a:cubicBezTo>
                  <a:lnTo>
                    <a:pt x="3691" y="8550"/>
                  </a:lnTo>
                  <a:lnTo>
                    <a:pt x="524" y="8550"/>
                  </a:lnTo>
                  <a:lnTo>
                    <a:pt x="893" y="8050"/>
                  </a:lnTo>
                  <a:close/>
                  <a:moveTo>
                    <a:pt x="9578" y="0"/>
                  </a:moveTo>
                  <a:cubicBezTo>
                    <a:pt x="9500" y="0"/>
                    <a:pt x="9417" y="68"/>
                    <a:pt x="9406" y="156"/>
                  </a:cubicBezTo>
                  <a:cubicBezTo>
                    <a:pt x="9394" y="240"/>
                    <a:pt x="9466" y="335"/>
                    <a:pt x="9561" y="347"/>
                  </a:cubicBezTo>
                  <a:cubicBezTo>
                    <a:pt x="10454" y="466"/>
                    <a:pt x="11121" y="1228"/>
                    <a:pt x="11121" y="2133"/>
                  </a:cubicBezTo>
                  <a:cubicBezTo>
                    <a:pt x="11121" y="3133"/>
                    <a:pt x="10311" y="3930"/>
                    <a:pt x="9323" y="3930"/>
                  </a:cubicBezTo>
                  <a:cubicBezTo>
                    <a:pt x="8323" y="3930"/>
                    <a:pt x="7513" y="3133"/>
                    <a:pt x="7513" y="2133"/>
                  </a:cubicBezTo>
                  <a:cubicBezTo>
                    <a:pt x="7513" y="1287"/>
                    <a:pt x="8108" y="561"/>
                    <a:pt x="8930" y="382"/>
                  </a:cubicBezTo>
                  <a:cubicBezTo>
                    <a:pt x="9025" y="359"/>
                    <a:pt x="9085" y="275"/>
                    <a:pt x="9061" y="180"/>
                  </a:cubicBezTo>
                  <a:cubicBezTo>
                    <a:pt x="9050" y="104"/>
                    <a:pt x="8969" y="48"/>
                    <a:pt x="8892" y="48"/>
                  </a:cubicBezTo>
                  <a:cubicBezTo>
                    <a:pt x="8885" y="48"/>
                    <a:pt x="8877" y="48"/>
                    <a:pt x="8870" y="49"/>
                  </a:cubicBezTo>
                  <a:cubicBezTo>
                    <a:pt x="8394" y="156"/>
                    <a:pt x="7977" y="406"/>
                    <a:pt x="7668" y="775"/>
                  </a:cubicBezTo>
                  <a:cubicBezTo>
                    <a:pt x="7406" y="1097"/>
                    <a:pt x="7251" y="1466"/>
                    <a:pt x="7203" y="1859"/>
                  </a:cubicBezTo>
                  <a:lnTo>
                    <a:pt x="5513" y="1859"/>
                  </a:lnTo>
                  <a:cubicBezTo>
                    <a:pt x="5417" y="1859"/>
                    <a:pt x="5346" y="1930"/>
                    <a:pt x="5346" y="2014"/>
                  </a:cubicBezTo>
                  <a:cubicBezTo>
                    <a:pt x="5346" y="2109"/>
                    <a:pt x="5417" y="2180"/>
                    <a:pt x="5513" y="2180"/>
                  </a:cubicBezTo>
                  <a:lnTo>
                    <a:pt x="7191" y="2180"/>
                  </a:lnTo>
                  <a:cubicBezTo>
                    <a:pt x="7191" y="2275"/>
                    <a:pt x="7203" y="2359"/>
                    <a:pt x="7215" y="2454"/>
                  </a:cubicBezTo>
                  <a:lnTo>
                    <a:pt x="1381" y="2454"/>
                  </a:lnTo>
                  <a:cubicBezTo>
                    <a:pt x="1298" y="2454"/>
                    <a:pt x="1215" y="2526"/>
                    <a:pt x="1215" y="2609"/>
                  </a:cubicBezTo>
                  <a:lnTo>
                    <a:pt x="1215" y="3240"/>
                  </a:lnTo>
                  <a:lnTo>
                    <a:pt x="1215" y="6955"/>
                  </a:lnTo>
                  <a:cubicBezTo>
                    <a:pt x="1215" y="7050"/>
                    <a:pt x="1298" y="7121"/>
                    <a:pt x="1381" y="7121"/>
                  </a:cubicBezTo>
                  <a:lnTo>
                    <a:pt x="7275" y="7121"/>
                  </a:lnTo>
                  <a:cubicBezTo>
                    <a:pt x="7370" y="7121"/>
                    <a:pt x="7442" y="7050"/>
                    <a:pt x="7442" y="6955"/>
                  </a:cubicBezTo>
                  <a:cubicBezTo>
                    <a:pt x="7442" y="6871"/>
                    <a:pt x="7370" y="6800"/>
                    <a:pt x="7275" y="6800"/>
                  </a:cubicBezTo>
                  <a:lnTo>
                    <a:pt x="1560" y="6800"/>
                  </a:lnTo>
                  <a:lnTo>
                    <a:pt x="1560" y="3418"/>
                  </a:lnTo>
                  <a:lnTo>
                    <a:pt x="7656" y="3418"/>
                  </a:lnTo>
                  <a:cubicBezTo>
                    <a:pt x="7751" y="3549"/>
                    <a:pt x="7858" y="3669"/>
                    <a:pt x="7989" y="3776"/>
                  </a:cubicBezTo>
                  <a:lnTo>
                    <a:pt x="6263" y="3776"/>
                  </a:lnTo>
                  <a:cubicBezTo>
                    <a:pt x="6179" y="3776"/>
                    <a:pt x="6096" y="3847"/>
                    <a:pt x="6096" y="3942"/>
                  </a:cubicBezTo>
                  <a:lnTo>
                    <a:pt x="6096" y="6181"/>
                  </a:lnTo>
                  <a:cubicBezTo>
                    <a:pt x="6096" y="6276"/>
                    <a:pt x="6179" y="6347"/>
                    <a:pt x="6263" y="6347"/>
                  </a:cubicBezTo>
                  <a:lnTo>
                    <a:pt x="8513" y="6347"/>
                  </a:lnTo>
                  <a:cubicBezTo>
                    <a:pt x="8596" y="6347"/>
                    <a:pt x="8680" y="6276"/>
                    <a:pt x="8680" y="6181"/>
                  </a:cubicBezTo>
                  <a:lnTo>
                    <a:pt x="8680" y="4145"/>
                  </a:lnTo>
                  <a:cubicBezTo>
                    <a:pt x="8846" y="4192"/>
                    <a:pt x="9001" y="4240"/>
                    <a:pt x="9168" y="4252"/>
                  </a:cubicBezTo>
                  <a:lnTo>
                    <a:pt x="9168" y="6800"/>
                  </a:lnTo>
                  <a:lnTo>
                    <a:pt x="8096" y="6800"/>
                  </a:lnTo>
                  <a:cubicBezTo>
                    <a:pt x="8001" y="6800"/>
                    <a:pt x="7930" y="6871"/>
                    <a:pt x="7930" y="6955"/>
                  </a:cubicBezTo>
                  <a:cubicBezTo>
                    <a:pt x="7930" y="7050"/>
                    <a:pt x="8001" y="7121"/>
                    <a:pt x="8096" y="7121"/>
                  </a:cubicBezTo>
                  <a:lnTo>
                    <a:pt x="9335" y="7121"/>
                  </a:lnTo>
                  <a:cubicBezTo>
                    <a:pt x="9418" y="7121"/>
                    <a:pt x="9489" y="7050"/>
                    <a:pt x="9489" y="6955"/>
                  </a:cubicBezTo>
                  <a:lnTo>
                    <a:pt x="9489" y="4240"/>
                  </a:lnTo>
                  <a:cubicBezTo>
                    <a:pt x="9585" y="4240"/>
                    <a:pt x="9656" y="4216"/>
                    <a:pt x="9751" y="4204"/>
                  </a:cubicBezTo>
                  <a:lnTo>
                    <a:pt x="9751" y="7705"/>
                  </a:lnTo>
                  <a:lnTo>
                    <a:pt x="965" y="7705"/>
                  </a:lnTo>
                  <a:lnTo>
                    <a:pt x="965" y="2168"/>
                  </a:lnTo>
                  <a:lnTo>
                    <a:pt x="4846" y="2168"/>
                  </a:lnTo>
                  <a:cubicBezTo>
                    <a:pt x="4941" y="2168"/>
                    <a:pt x="5013" y="2097"/>
                    <a:pt x="5013" y="2002"/>
                  </a:cubicBezTo>
                  <a:cubicBezTo>
                    <a:pt x="5013" y="1918"/>
                    <a:pt x="4941" y="1835"/>
                    <a:pt x="4846" y="1835"/>
                  </a:cubicBezTo>
                  <a:lnTo>
                    <a:pt x="786" y="1835"/>
                  </a:lnTo>
                  <a:cubicBezTo>
                    <a:pt x="703" y="1835"/>
                    <a:pt x="619" y="1918"/>
                    <a:pt x="619" y="2002"/>
                  </a:cubicBezTo>
                  <a:lnTo>
                    <a:pt x="619" y="7812"/>
                  </a:lnTo>
                  <a:lnTo>
                    <a:pt x="24" y="8598"/>
                  </a:lnTo>
                  <a:cubicBezTo>
                    <a:pt x="12" y="8622"/>
                    <a:pt x="0" y="8657"/>
                    <a:pt x="0" y="8705"/>
                  </a:cubicBezTo>
                  <a:lnTo>
                    <a:pt x="0" y="9324"/>
                  </a:lnTo>
                  <a:cubicBezTo>
                    <a:pt x="0" y="9419"/>
                    <a:pt x="72" y="9491"/>
                    <a:pt x="167" y="9491"/>
                  </a:cubicBezTo>
                  <a:lnTo>
                    <a:pt x="7930" y="9491"/>
                  </a:lnTo>
                  <a:cubicBezTo>
                    <a:pt x="8025" y="9491"/>
                    <a:pt x="8096" y="9419"/>
                    <a:pt x="8096" y="9324"/>
                  </a:cubicBezTo>
                  <a:cubicBezTo>
                    <a:pt x="8096" y="9241"/>
                    <a:pt x="8025" y="9157"/>
                    <a:pt x="7930" y="9157"/>
                  </a:cubicBezTo>
                  <a:lnTo>
                    <a:pt x="322" y="9157"/>
                  </a:lnTo>
                  <a:lnTo>
                    <a:pt x="322" y="8883"/>
                  </a:lnTo>
                  <a:lnTo>
                    <a:pt x="10359" y="8883"/>
                  </a:lnTo>
                  <a:lnTo>
                    <a:pt x="10359" y="9157"/>
                  </a:lnTo>
                  <a:lnTo>
                    <a:pt x="8585" y="9157"/>
                  </a:lnTo>
                  <a:cubicBezTo>
                    <a:pt x="8501" y="9157"/>
                    <a:pt x="8418" y="9241"/>
                    <a:pt x="8418" y="9324"/>
                  </a:cubicBezTo>
                  <a:cubicBezTo>
                    <a:pt x="8418" y="9419"/>
                    <a:pt x="8501" y="9491"/>
                    <a:pt x="8585" y="9491"/>
                  </a:cubicBezTo>
                  <a:lnTo>
                    <a:pt x="10525" y="9491"/>
                  </a:lnTo>
                  <a:cubicBezTo>
                    <a:pt x="10609" y="9491"/>
                    <a:pt x="10680" y="9419"/>
                    <a:pt x="10680" y="9324"/>
                  </a:cubicBezTo>
                  <a:lnTo>
                    <a:pt x="10680" y="8705"/>
                  </a:lnTo>
                  <a:cubicBezTo>
                    <a:pt x="10680" y="8669"/>
                    <a:pt x="10668" y="8622"/>
                    <a:pt x="10656" y="8598"/>
                  </a:cubicBezTo>
                  <a:lnTo>
                    <a:pt x="10061" y="7812"/>
                  </a:lnTo>
                  <a:lnTo>
                    <a:pt x="10061" y="4097"/>
                  </a:lnTo>
                  <a:cubicBezTo>
                    <a:pt x="10894" y="3823"/>
                    <a:pt x="11466" y="3049"/>
                    <a:pt x="11466" y="2121"/>
                  </a:cubicBezTo>
                  <a:cubicBezTo>
                    <a:pt x="11466" y="1049"/>
                    <a:pt x="10656" y="144"/>
                    <a:pt x="9597" y="1"/>
                  </a:cubicBezTo>
                  <a:cubicBezTo>
                    <a:pt x="9590" y="1"/>
                    <a:pt x="9584" y="0"/>
                    <a:pt x="95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7"/>
            <p:cNvSpPr/>
            <p:nvPr/>
          </p:nvSpPr>
          <p:spPr>
            <a:xfrm>
              <a:off x="3141537" y="2565390"/>
              <a:ext cx="37763" cy="37382"/>
            </a:xfrm>
            <a:custGeom>
              <a:rect b="b" l="l" r="r" t="t"/>
              <a:pathLst>
                <a:path extrusionOk="0" h="1180" w="1192">
                  <a:moveTo>
                    <a:pt x="846" y="322"/>
                  </a:moveTo>
                  <a:lnTo>
                    <a:pt x="846" y="834"/>
                  </a:lnTo>
                  <a:lnTo>
                    <a:pt x="346" y="834"/>
                  </a:lnTo>
                  <a:lnTo>
                    <a:pt x="346" y="322"/>
                  </a:lnTo>
                  <a:close/>
                  <a:moveTo>
                    <a:pt x="156" y="1"/>
                  </a:moveTo>
                  <a:cubicBezTo>
                    <a:pt x="72" y="1"/>
                    <a:pt x="1" y="72"/>
                    <a:pt x="1" y="167"/>
                  </a:cubicBezTo>
                  <a:lnTo>
                    <a:pt x="1" y="1013"/>
                  </a:lnTo>
                  <a:cubicBezTo>
                    <a:pt x="1" y="1096"/>
                    <a:pt x="72" y="1179"/>
                    <a:pt x="156" y="1179"/>
                  </a:cubicBezTo>
                  <a:lnTo>
                    <a:pt x="1013" y="1179"/>
                  </a:lnTo>
                  <a:cubicBezTo>
                    <a:pt x="1096" y="1179"/>
                    <a:pt x="1180" y="1096"/>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7"/>
            <p:cNvSpPr/>
            <p:nvPr/>
          </p:nvSpPr>
          <p:spPr>
            <a:xfrm>
              <a:off x="3185287" y="2565390"/>
              <a:ext cx="73593" cy="10233"/>
            </a:xfrm>
            <a:custGeom>
              <a:rect b="b" l="l" r="r" t="t"/>
              <a:pathLst>
                <a:path extrusionOk="0" h="323" w="2323">
                  <a:moveTo>
                    <a:pt x="168" y="1"/>
                  </a:moveTo>
                  <a:cubicBezTo>
                    <a:pt x="72" y="1"/>
                    <a:pt x="1" y="72"/>
                    <a:pt x="1" y="167"/>
                  </a:cubicBezTo>
                  <a:cubicBezTo>
                    <a:pt x="1" y="251"/>
                    <a:pt x="72" y="322"/>
                    <a:pt x="168" y="322"/>
                  </a:cubicBezTo>
                  <a:lnTo>
                    <a:pt x="2144" y="322"/>
                  </a:lnTo>
                  <a:cubicBezTo>
                    <a:pt x="2239" y="322"/>
                    <a:pt x="2311" y="251"/>
                    <a:pt x="2311" y="167"/>
                  </a:cubicBezTo>
                  <a:cubicBezTo>
                    <a:pt x="2323"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7"/>
            <p:cNvSpPr/>
            <p:nvPr/>
          </p:nvSpPr>
          <p:spPr>
            <a:xfrm>
              <a:off x="3185287" y="2578601"/>
              <a:ext cx="73593" cy="10201"/>
            </a:xfrm>
            <a:custGeom>
              <a:rect b="b" l="l" r="r" t="t"/>
              <a:pathLst>
                <a:path extrusionOk="0" h="322" w="2323">
                  <a:moveTo>
                    <a:pt x="168" y="0"/>
                  </a:moveTo>
                  <a:cubicBezTo>
                    <a:pt x="72" y="0"/>
                    <a:pt x="1" y="72"/>
                    <a:pt x="1" y="167"/>
                  </a:cubicBezTo>
                  <a:cubicBezTo>
                    <a:pt x="1" y="250"/>
                    <a:pt x="72" y="322"/>
                    <a:pt x="168" y="322"/>
                  </a:cubicBezTo>
                  <a:lnTo>
                    <a:pt x="2144" y="322"/>
                  </a:lnTo>
                  <a:cubicBezTo>
                    <a:pt x="2239" y="322"/>
                    <a:pt x="2311" y="250"/>
                    <a:pt x="2311" y="167"/>
                  </a:cubicBezTo>
                  <a:cubicBezTo>
                    <a:pt x="2323"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7"/>
            <p:cNvSpPr/>
            <p:nvPr/>
          </p:nvSpPr>
          <p:spPr>
            <a:xfrm>
              <a:off x="3185287" y="2591811"/>
              <a:ext cx="73212" cy="10201"/>
            </a:xfrm>
            <a:custGeom>
              <a:rect b="b" l="l" r="r" t="t"/>
              <a:pathLst>
                <a:path extrusionOk="0" h="322" w="2311">
                  <a:moveTo>
                    <a:pt x="168" y="0"/>
                  </a:moveTo>
                  <a:cubicBezTo>
                    <a:pt x="72" y="0"/>
                    <a:pt x="1" y="72"/>
                    <a:pt x="1" y="167"/>
                  </a:cubicBezTo>
                  <a:cubicBezTo>
                    <a:pt x="1" y="250"/>
                    <a:pt x="72" y="322"/>
                    <a:pt x="168" y="322"/>
                  </a:cubicBezTo>
                  <a:lnTo>
                    <a:pt x="2144" y="322"/>
                  </a:lnTo>
                  <a:cubicBezTo>
                    <a:pt x="2239" y="322"/>
                    <a:pt x="2311" y="250"/>
                    <a:pt x="2311" y="167"/>
                  </a:cubicBezTo>
                  <a:cubicBezTo>
                    <a:pt x="2311" y="72"/>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7"/>
            <p:cNvSpPr/>
            <p:nvPr/>
          </p:nvSpPr>
          <p:spPr>
            <a:xfrm>
              <a:off x="3141537" y="2609520"/>
              <a:ext cx="37763" cy="37382"/>
            </a:xfrm>
            <a:custGeom>
              <a:rect b="b" l="l" r="r" t="t"/>
              <a:pathLst>
                <a:path extrusionOk="0" h="1180" w="1192">
                  <a:moveTo>
                    <a:pt x="846" y="346"/>
                  </a:moveTo>
                  <a:lnTo>
                    <a:pt x="846" y="858"/>
                  </a:lnTo>
                  <a:lnTo>
                    <a:pt x="346" y="858"/>
                  </a:lnTo>
                  <a:lnTo>
                    <a:pt x="346" y="346"/>
                  </a:lnTo>
                  <a:close/>
                  <a:moveTo>
                    <a:pt x="156" y="1"/>
                  </a:moveTo>
                  <a:cubicBezTo>
                    <a:pt x="72" y="1"/>
                    <a:pt x="1" y="72"/>
                    <a:pt x="1" y="167"/>
                  </a:cubicBezTo>
                  <a:lnTo>
                    <a:pt x="1" y="1013"/>
                  </a:lnTo>
                  <a:cubicBezTo>
                    <a:pt x="1" y="1108"/>
                    <a:pt x="72" y="1179"/>
                    <a:pt x="156" y="1179"/>
                  </a:cubicBezTo>
                  <a:lnTo>
                    <a:pt x="1013" y="1179"/>
                  </a:lnTo>
                  <a:cubicBezTo>
                    <a:pt x="1096" y="1179"/>
                    <a:pt x="1180" y="1108"/>
                    <a:pt x="1180" y="1013"/>
                  </a:cubicBezTo>
                  <a:lnTo>
                    <a:pt x="1180" y="167"/>
                  </a:lnTo>
                  <a:cubicBezTo>
                    <a:pt x="1191" y="72"/>
                    <a:pt x="1096" y="1"/>
                    <a:pt x="1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7"/>
            <p:cNvSpPr/>
            <p:nvPr/>
          </p:nvSpPr>
          <p:spPr>
            <a:xfrm>
              <a:off x="3185287" y="2609520"/>
              <a:ext cx="73212" cy="10613"/>
            </a:xfrm>
            <a:custGeom>
              <a:rect b="b" l="l" r="r" t="t"/>
              <a:pathLst>
                <a:path extrusionOk="0" h="335" w="2311">
                  <a:moveTo>
                    <a:pt x="168" y="1"/>
                  </a:moveTo>
                  <a:cubicBezTo>
                    <a:pt x="72" y="1"/>
                    <a:pt x="1" y="72"/>
                    <a:pt x="1" y="167"/>
                  </a:cubicBezTo>
                  <a:cubicBezTo>
                    <a:pt x="1" y="263"/>
                    <a:pt x="72" y="334"/>
                    <a:pt x="168" y="334"/>
                  </a:cubicBezTo>
                  <a:lnTo>
                    <a:pt x="2144" y="334"/>
                  </a:lnTo>
                  <a:cubicBezTo>
                    <a:pt x="2239" y="334"/>
                    <a:pt x="2311" y="263"/>
                    <a:pt x="2311" y="167"/>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7"/>
            <p:cNvSpPr/>
            <p:nvPr/>
          </p:nvSpPr>
          <p:spPr>
            <a:xfrm>
              <a:off x="3185287" y="2622731"/>
              <a:ext cx="73212" cy="10581"/>
            </a:xfrm>
            <a:custGeom>
              <a:rect b="b" l="l" r="r" t="t"/>
              <a:pathLst>
                <a:path extrusionOk="0" h="334" w="2311">
                  <a:moveTo>
                    <a:pt x="168" y="0"/>
                  </a:moveTo>
                  <a:cubicBezTo>
                    <a:pt x="72" y="0"/>
                    <a:pt x="1" y="84"/>
                    <a:pt x="1" y="167"/>
                  </a:cubicBezTo>
                  <a:cubicBezTo>
                    <a:pt x="1" y="262"/>
                    <a:pt x="72" y="334"/>
                    <a:pt x="168" y="334"/>
                  </a:cubicBezTo>
                  <a:lnTo>
                    <a:pt x="2144" y="334"/>
                  </a:lnTo>
                  <a:cubicBezTo>
                    <a:pt x="2239" y="334"/>
                    <a:pt x="2311" y="262"/>
                    <a:pt x="2311" y="167"/>
                  </a:cubicBezTo>
                  <a:cubicBezTo>
                    <a:pt x="2311" y="84"/>
                    <a:pt x="2251" y="0"/>
                    <a:pt x="214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7"/>
            <p:cNvSpPr/>
            <p:nvPr/>
          </p:nvSpPr>
          <p:spPr>
            <a:xfrm>
              <a:off x="3185287" y="2636670"/>
              <a:ext cx="73212" cy="10233"/>
            </a:xfrm>
            <a:custGeom>
              <a:rect b="b" l="l" r="r" t="t"/>
              <a:pathLst>
                <a:path extrusionOk="0" h="323" w="2311">
                  <a:moveTo>
                    <a:pt x="168" y="1"/>
                  </a:moveTo>
                  <a:cubicBezTo>
                    <a:pt x="72" y="1"/>
                    <a:pt x="1" y="72"/>
                    <a:pt x="1" y="156"/>
                  </a:cubicBezTo>
                  <a:cubicBezTo>
                    <a:pt x="1" y="251"/>
                    <a:pt x="72" y="322"/>
                    <a:pt x="168" y="322"/>
                  </a:cubicBezTo>
                  <a:lnTo>
                    <a:pt x="2144" y="322"/>
                  </a:lnTo>
                  <a:cubicBezTo>
                    <a:pt x="2239" y="322"/>
                    <a:pt x="2311" y="251"/>
                    <a:pt x="2311" y="156"/>
                  </a:cubicBezTo>
                  <a:cubicBezTo>
                    <a:pt x="2311" y="72"/>
                    <a:pt x="2251" y="1"/>
                    <a:pt x="21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7"/>
            <p:cNvSpPr/>
            <p:nvPr/>
          </p:nvSpPr>
          <p:spPr>
            <a:xfrm>
              <a:off x="3330509" y="2471839"/>
              <a:ext cx="82653" cy="82653"/>
            </a:xfrm>
            <a:custGeom>
              <a:rect b="b" l="l" r="r" t="t"/>
              <a:pathLst>
                <a:path extrusionOk="0" h="2609" w="2609">
                  <a:moveTo>
                    <a:pt x="346" y="1287"/>
                  </a:moveTo>
                  <a:lnTo>
                    <a:pt x="429" y="1323"/>
                  </a:lnTo>
                  <a:cubicBezTo>
                    <a:pt x="668" y="1418"/>
                    <a:pt x="727" y="1501"/>
                    <a:pt x="727" y="1549"/>
                  </a:cubicBezTo>
                  <a:cubicBezTo>
                    <a:pt x="727" y="1573"/>
                    <a:pt x="668" y="1656"/>
                    <a:pt x="465" y="1775"/>
                  </a:cubicBezTo>
                  <a:cubicBezTo>
                    <a:pt x="394" y="1644"/>
                    <a:pt x="346" y="1489"/>
                    <a:pt x="346" y="1334"/>
                  </a:cubicBezTo>
                  <a:lnTo>
                    <a:pt x="346" y="1311"/>
                  </a:lnTo>
                  <a:lnTo>
                    <a:pt x="346" y="1287"/>
                  </a:lnTo>
                  <a:close/>
                  <a:moveTo>
                    <a:pt x="1203" y="346"/>
                  </a:moveTo>
                  <a:cubicBezTo>
                    <a:pt x="1191" y="358"/>
                    <a:pt x="1180" y="394"/>
                    <a:pt x="1168" y="406"/>
                  </a:cubicBezTo>
                  <a:cubicBezTo>
                    <a:pt x="1025" y="632"/>
                    <a:pt x="1108" y="799"/>
                    <a:pt x="1168" y="882"/>
                  </a:cubicBezTo>
                  <a:cubicBezTo>
                    <a:pt x="1311" y="1096"/>
                    <a:pt x="1525" y="1132"/>
                    <a:pt x="1668" y="1168"/>
                  </a:cubicBezTo>
                  <a:cubicBezTo>
                    <a:pt x="1846" y="1203"/>
                    <a:pt x="1858" y="1203"/>
                    <a:pt x="1882" y="1334"/>
                  </a:cubicBezTo>
                  <a:cubicBezTo>
                    <a:pt x="1882" y="1430"/>
                    <a:pt x="1703" y="1549"/>
                    <a:pt x="1525" y="1656"/>
                  </a:cubicBezTo>
                  <a:cubicBezTo>
                    <a:pt x="1299" y="1787"/>
                    <a:pt x="1049" y="1954"/>
                    <a:pt x="953" y="2192"/>
                  </a:cubicBezTo>
                  <a:cubicBezTo>
                    <a:pt x="870" y="2156"/>
                    <a:pt x="787" y="2120"/>
                    <a:pt x="715" y="2061"/>
                  </a:cubicBezTo>
                  <a:cubicBezTo>
                    <a:pt x="703" y="2037"/>
                    <a:pt x="691" y="2025"/>
                    <a:pt x="668" y="2025"/>
                  </a:cubicBezTo>
                  <a:cubicBezTo>
                    <a:pt x="941" y="1882"/>
                    <a:pt x="1060" y="1704"/>
                    <a:pt x="1060" y="1525"/>
                  </a:cubicBezTo>
                  <a:cubicBezTo>
                    <a:pt x="1060" y="1370"/>
                    <a:pt x="965" y="1168"/>
                    <a:pt x="549" y="1001"/>
                  </a:cubicBezTo>
                  <a:cubicBezTo>
                    <a:pt x="513" y="989"/>
                    <a:pt x="453" y="953"/>
                    <a:pt x="418" y="930"/>
                  </a:cubicBezTo>
                  <a:cubicBezTo>
                    <a:pt x="549" y="596"/>
                    <a:pt x="870" y="394"/>
                    <a:pt x="1203" y="346"/>
                  </a:cubicBezTo>
                  <a:close/>
                  <a:moveTo>
                    <a:pt x="1644" y="394"/>
                  </a:moveTo>
                  <a:cubicBezTo>
                    <a:pt x="1858" y="465"/>
                    <a:pt x="2049" y="644"/>
                    <a:pt x="2180" y="858"/>
                  </a:cubicBezTo>
                  <a:cubicBezTo>
                    <a:pt x="2251" y="989"/>
                    <a:pt x="2275" y="1132"/>
                    <a:pt x="2275" y="1299"/>
                  </a:cubicBezTo>
                  <a:cubicBezTo>
                    <a:pt x="2251" y="1668"/>
                    <a:pt x="2061" y="2001"/>
                    <a:pt x="1727" y="2168"/>
                  </a:cubicBezTo>
                  <a:cubicBezTo>
                    <a:pt x="1596" y="2239"/>
                    <a:pt x="1441" y="2263"/>
                    <a:pt x="1299" y="2263"/>
                  </a:cubicBezTo>
                  <a:cubicBezTo>
                    <a:pt x="1370" y="2168"/>
                    <a:pt x="1501" y="2061"/>
                    <a:pt x="1703" y="1942"/>
                  </a:cubicBezTo>
                  <a:cubicBezTo>
                    <a:pt x="1942" y="1787"/>
                    <a:pt x="2215" y="1608"/>
                    <a:pt x="2203" y="1311"/>
                  </a:cubicBezTo>
                  <a:cubicBezTo>
                    <a:pt x="2192" y="930"/>
                    <a:pt x="1918" y="870"/>
                    <a:pt x="1739" y="822"/>
                  </a:cubicBezTo>
                  <a:cubicBezTo>
                    <a:pt x="1620" y="799"/>
                    <a:pt x="1501" y="775"/>
                    <a:pt x="1441" y="680"/>
                  </a:cubicBezTo>
                  <a:cubicBezTo>
                    <a:pt x="1418" y="632"/>
                    <a:pt x="1465" y="537"/>
                    <a:pt x="1644" y="394"/>
                  </a:cubicBezTo>
                  <a:close/>
                  <a:moveTo>
                    <a:pt x="1299" y="1"/>
                  </a:moveTo>
                  <a:cubicBezTo>
                    <a:pt x="727" y="1"/>
                    <a:pt x="227" y="358"/>
                    <a:pt x="60" y="918"/>
                  </a:cubicBezTo>
                  <a:cubicBezTo>
                    <a:pt x="13" y="1037"/>
                    <a:pt x="1" y="1168"/>
                    <a:pt x="1" y="1299"/>
                  </a:cubicBezTo>
                  <a:lnTo>
                    <a:pt x="1" y="1334"/>
                  </a:lnTo>
                  <a:cubicBezTo>
                    <a:pt x="1" y="1608"/>
                    <a:pt x="96" y="1870"/>
                    <a:pt x="275" y="2085"/>
                  </a:cubicBezTo>
                  <a:lnTo>
                    <a:pt x="275" y="2108"/>
                  </a:lnTo>
                  <a:cubicBezTo>
                    <a:pt x="346" y="2192"/>
                    <a:pt x="418" y="2263"/>
                    <a:pt x="513" y="2346"/>
                  </a:cubicBezTo>
                  <a:cubicBezTo>
                    <a:pt x="656" y="2466"/>
                    <a:pt x="846" y="2537"/>
                    <a:pt x="1049" y="2585"/>
                  </a:cubicBezTo>
                  <a:cubicBezTo>
                    <a:pt x="1120" y="2596"/>
                    <a:pt x="1203" y="2608"/>
                    <a:pt x="1299" y="2608"/>
                  </a:cubicBezTo>
                  <a:cubicBezTo>
                    <a:pt x="1501" y="2608"/>
                    <a:pt x="1703" y="2561"/>
                    <a:pt x="1894" y="2477"/>
                  </a:cubicBezTo>
                  <a:cubicBezTo>
                    <a:pt x="2323" y="2251"/>
                    <a:pt x="2608" y="1811"/>
                    <a:pt x="2608" y="1311"/>
                  </a:cubicBezTo>
                  <a:cubicBezTo>
                    <a:pt x="2596" y="1096"/>
                    <a:pt x="2549" y="894"/>
                    <a:pt x="2442" y="703"/>
                  </a:cubicBezTo>
                  <a:cubicBezTo>
                    <a:pt x="2275" y="370"/>
                    <a:pt x="1965" y="144"/>
                    <a:pt x="1620" y="49"/>
                  </a:cubicBezTo>
                  <a:cubicBezTo>
                    <a:pt x="1525" y="13"/>
                    <a:pt x="1406" y="1"/>
                    <a:pt x="129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83" name="Google Shape;383;p37"/>
          <p:cNvPicPr preferRelativeResize="0"/>
          <p:nvPr/>
        </p:nvPicPr>
        <p:blipFill>
          <a:blip r:embed="rId3">
            <a:alphaModFix/>
          </a:blip>
          <a:stretch>
            <a:fillRect/>
          </a:stretch>
        </p:blipFill>
        <p:spPr>
          <a:xfrm>
            <a:off x="4413950" y="355913"/>
            <a:ext cx="4184376" cy="44316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8"/>
          <p:cNvSpPr txBox="1"/>
          <p:nvPr>
            <p:ph type="title"/>
          </p:nvPr>
        </p:nvSpPr>
        <p:spPr>
          <a:xfrm>
            <a:off x="474750" y="156225"/>
            <a:ext cx="6299400" cy="6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t>Sample Results</a:t>
            </a:r>
            <a:endParaRPr sz="4300"/>
          </a:p>
        </p:txBody>
      </p:sp>
      <p:pic>
        <p:nvPicPr>
          <p:cNvPr id="389" name="Google Shape;389;p38"/>
          <p:cNvPicPr preferRelativeResize="0"/>
          <p:nvPr/>
        </p:nvPicPr>
        <p:blipFill>
          <a:blip r:embed="rId3">
            <a:alphaModFix/>
          </a:blip>
          <a:stretch>
            <a:fillRect/>
          </a:stretch>
        </p:blipFill>
        <p:spPr>
          <a:xfrm>
            <a:off x="1964375" y="916050"/>
            <a:ext cx="5083545" cy="3804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9"/>
          <p:cNvSpPr txBox="1"/>
          <p:nvPr>
            <p:ph type="title"/>
          </p:nvPr>
        </p:nvSpPr>
        <p:spPr>
          <a:xfrm>
            <a:off x="474750" y="156225"/>
            <a:ext cx="6299400" cy="6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t>Evaluation </a:t>
            </a:r>
            <a:endParaRPr sz="4300"/>
          </a:p>
        </p:txBody>
      </p:sp>
      <p:pic>
        <p:nvPicPr>
          <p:cNvPr id="395" name="Google Shape;395;p39"/>
          <p:cNvPicPr preferRelativeResize="0"/>
          <p:nvPr/>
        </p:nvPicPr>
        <p:blipFill>
          <a:blip r:embed="rId3">
            <a:alphaModFix/>
          </a:blip>
          <a:stretch>
            <a:fillRect/>
          </a:stretch>
        </p:blipFill>
        <p:spPr>
          <a:xfrm>
            <a:off x="347400" y="1094975"/>
            <a:ext cx="2798975" cy="1998017"/>
          </a:xfrm>
          <a:prstGeom prst="rect">
            <a:avLst/>
          </a:prstGeom>
          <a:noFill/>
          <a:ln>
            <a:noFill/>
          </a:ln>
        </p:spPr>
      </p:pic>
      <p:pic>
        <p:nvPicPr>
          <p:cNvPr id="396" name="Google Shape;396;p39"/>
          <p:cNvPicPr preferRelativeResize="0"/>
          <p:nvPr/>
        </p:nvPicPr>
        <p:blipFill>
          <a:blip r:embed="rId4">
            <a:alphaModFix/>
          </a:blip>
          <a:stretch>
            <a:fillRect/>
          </a:stretch>
        </p:blipFill>
        <p:spPr>
          <a:xfrm>
            <a:off x="3204600" y="1094975"/>
            <a:ext cx="2734788" cy="1998025"/>
          </a:xfrm>
          <a:prstGeom prst="rect">
            <a:avLst/>
          </a:prstGeom>
          <a:noFill/>
          <a:ln>
            <a:noFill/>
          </a:ln>
        </p:spPr>
      </p:pic>
      <p:pic>
        <p:nvPicPr>
          <p:cNvPr id="397" name="Google Shape;397;p39"/>
          <p:cNvPicPr preferRelativeResize="0"/>
          <p:nvPr/>
        </p:nvPicPr>
        <p:blipFill>
          <a:blip r:embed="rId5">
            <a:alphaModFix/>
          </a:blip>
          <a:stretch>
            <a:fillRect/>
          </a:stretch>
        </p:blipFill>
        <p:spPr>
          <a:xfrm>
            <a:off x="5997625" y="987025"/>
            <a:ext cx="2652325" cy="2105975"/>
          </a:xfrm>
          <a:prstGeom prst="rect">
            <a:avLst/>
          </a:prstGeom>
          <a:noFill/>
          <a:ln>
            <a:noFill/>
          </a:ln>
        </p:spPr>
      </p:pic>
      <p:sp>
        <p:nvSpPr>
          <p:cNvPr id="398" name="Google Shape;398;p39"/>
          <p:cNvSpPr txBox="1"/>
          <p:nvPr/>
        </p:nvSpPr>
        <p:spPr>
          <a:xfrm>
            <a:off x="562300" y="3269750"/>
            <a:ext cx="25353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PSNR (Peak Signal-to-Noise Ratio)</a:t>
            </a:r>
            <a:r>
              <a:rPr lang="en" sz="1100"/>
              <a:t> measures the quality of the blurred image compared to the original; </a:t>
            </a:r>
            <a:r>
              <a:rPr b="1" lang="en" sz="1100"/>
              <a:t>higher PSNR</a:t>
            </a:r>
            <a:r>
              <a:rPr lang="en" sz="1100"/>
              <a:t> indicates better visual quality.</a:t>
            </a:r>
            <a:endParaRPr sz="1200">
              <a:solidFill>
                <a:schemeClr val="dk1"/>
              </a:solidFill>
              <a:latin typeface="Blinker"/>
              <a:ea typeface="Blinker"/>
              <a:cs typeface="Blinker"/>
              <a:sym typeface="Blinker"/>
            </a:endParaRPr>
          </a:p>
        </p:txBody>
      </p:sp>
      <p:sp>
        <p:nvSpPr>
          <p:cNvPr id="399" name="Google Shape;399;p39"/>
          <p:cNvSpPr txBox="1"/>
          <p:nvPr/>
        </p:nvSpPr>
        <p:spPr>
          <a:xfrm>
            <a:off x="3462325" y="3221000"/>
            <a:ext cx="25353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SSIM (Structural Similarity Index)</a:t>
            </a:r>
            <a:r>
              <a:rPr lang="en" sz="1100"/>
              <a:t> assesses the perceptual similarity between two images; </a:t>
            </a:r>
            <a:r>
              <a:rPr b="1" lang="en" sz="1100"/>
              <a:t>higher SSIM</a:t>
            </a:r>
            <a:r>
              <a:rPr lang="en" sz="1100"/>
              <a:t> (closer to 1) means better structural preservation.</a:t>
            </a:r>
            <a:endParaRPr sz="1200">
              <a:solidFill>
                <a:schemeClr val="dk1"/>
              </a:solidFill>
              <a:latin typeface="Blinker"/>
              <a:ea typeface="Blinker"/>
              <a:cs typeface="Blinker"/>
              <a:sym typeface="Blinker"/>
            </a:endParaRPr>
          </a:p>
        </p:txBody>
      </p:sp>
      <p:sp>
        <p:nvSpPr>
          <p:cNvPr id="400" name="Google Shape;400;p39"/>
          <p:cNvSpPr txBox="1"/>
          <p:nvPr/>
        </p:nvSpPr>
        <p:spPr>
          <a:xfrm>
            <a:off x="6213725" y="3184375"/>
            <a:ext cx="25353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MSE (Mean Squared Error)</a:t>
            </a:r>
            <a:r>
              <a:rPr lang="en" sz="1100"/>
              <a:t> calculates the average squared difference between the original and blurred image; </a:t>
            </a:r>
            <a:r>
              <a:rPr b="1" lang="en" sz="1100"/>
              <a:t>lower MSE</a:t>
            </a:r>
            <a:r>
              <a:rPr lang="en" sz="1100"/>
              <a:t> is ideal as it indicates less distortion.</a:t>
            </a:r>
            <a:endParaRPr sz="1200">
              <a:solidFill>
                <a:schemeClr val="dk1"/>
              </a:solidFill>
              <a:latin typeface="Blinker"/>
              <a:ea typeface="Blinker"/>
              <a:cs typeface="Blinker"/>
              <a:sym typeface="Blink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0"/>
          <p:cNvSpPr txBox="1"/>
          <p:nvPr>
            <p:ph type="title"/>
          </p:nvPr>
        </p:nvSpPr>
        <p:spPr>
          <a:xfrm>
            <a:off x="474750" y="156225"/>
            <a:ext cx="6299400" cy="6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t>Evaluation </a:t>
            </a:r>
            <a:endParaRPr sz="4300"/>
          </a:p>
        </p:txBody>
      </p:sp>
      <p:pic>
        <p:nvPicPr>
          <p:cNvPr id="406" name="Google Shape;406;p40"/>
          <p:cNvPicPr preferRelativeResize="0"/>
          <p:nvPr/>
        </p:nvPicPr>
        <p:blipFill>
          <a:blip r:embed="rId3">
            <a:alphaModFix/>
          </a:blip>
          <a:stretch>
            <a:fillRect/>
          </a:stretch>
        </p:blipFill>
        <p:spPr>
          <a:xfrm>
            <a:off x="574925" y="981200"/>
            <a:ext cx="3725675" cy="3588625"/>
          </a:xfrm>
          <a:prstGeom prst="rect">
            <a:avLst/>
          </a:prstGeom>
          <a:noFill/>
          <a:ln>
            <a:noFill/>
          </a:ln>
        </p:spPr>
      </p:pic>
      <p:sp>
        <p:nvSpPr>
          <p:cNvPr id="407" name="Google Shape;407;p40"/>
          <p:cNvSpPr txBox="1"/>
          <p:nvPr/>
        </p:nvSpPr>
        <p:spPr>
          <a:xfrm>
            <a:off x="4430050" y="1566250"/>
            <a:ext cx="42075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t>Laplacian Variance</a:t>
            </a:r>
            <a:r>
              <a:rPr lang="en" sz="1100"/>
              <a:t> measures the sharpness in an image; </a:t>
            </a:r>
            <a:r>
              <a:rPr b="1" lang="en" sz="1100"/>
              <a:t>lower values</a:t>
            </a:r>
            <a:r>
              <a:rPr lang="en" sz="1100"/>
              <a:t> indicate </a:t>
            </a:r>
            <a:r>
              <a:rPr b="1" lang="en" sz="1100"/>
              <a:t>more blur</a:t>
            </a:r>
            <a:r>
              <a:rPr lang="en" sz="1100"/>
              <a:t>.</a:t>
            </a:r>
            <a:br>
              <a:rPr lang="en" sz="1100"/>
            </a:br>
            <a:endParaRPr sz="1100"/>
          </a:p>
          <a:p>
            <a:pPr indent="0" lvl="0" marL="0" rtl="0" algn="l">
              <a:spcBef>
                <a:spcPts val="0"/>
              </a:spcBef>
              <a:spcAft>
                <a:spcPts val="0"/>
              </a:spcAft>
              <a:buNone/>
            </a:pPr>
            <a:r>
              <a:rPr b="1" lang="en" sz="1100"/>
              <a:t>Tenengrad</a:t>
            </a:r>
            <a:r>
              <a:rPr lang="en" sz="1100"/>
              <a:t> is a gradient-based sharpness measure; </a:t>
            </a:r>
            <a:r>
              <a:rPr b="1" lang="en" sz="1100"/>
              <a:t>lower values</a:t>
            </a:r>
            <a:r>
              <a:rPr lang="en" sz="1100"/>
              <a:t> mean the image is </a:t>
            </a:r>
            <a:r>
              <a:rPr b="1" lang="en" sz="1100"/>
              <a:t>more blurred</a:t>
            </a:r>
            <a:r>
              <a:rPr lang="en" sz="1100"/>
              <a:t>.</a:t>
            </a:r>
            <a:br>
              <a:rPr lang="en" sz="1100"/>
            </a:br>
            <a:endParaRPr sz="1100"/>
          </a:p>
          <a:p>
            <a:pPr indent="0" lvl="0" marL="0" rtl="0" algn="l">
              <a:spcBef>
                <a:spcPts val="0"/>
              </a:spcBef>
              <a:spcAft>
                <a:spcPts val="0"/>
              </a:spcAft>
              <a:buNone/>
            </a:pPr>
            <a:r>
              <a:rPr b="1" lang="en" sz="1100"/>
              <a:t>Brenner</a:t>
            </a:r>
            <a:r>
              <a:rPr lang="en" sz="1100"/>
              <a:t> is another focus measure based on pixel differences; again, </a:t>
            </a:r>
            <a:r>
              <a:rPr b="1" lang="en" sz="1100"/>
              <a:t>lower values</a:t>
            </a:r>
            <a:r>
              <a:rPr lang="en" sz="1100"/>
              <a:t> signify </a:t>
            </a:r>
            <a:r>
              <a:rPr b="1" lang="en" sz="1100"/>
              <a:t>greater blurring</a:t>
            </a:r>
            <a:r>
              <a:rPr lang="en" sz="1100"/>
              <a:t>.</a:t>
            </a:r>
            <a:endParaRPr sz="1100"/>
          </a:p>
          <a:p>
            <a:pPr indent="0" lvl="0" marL="0" rtl="0" algn="l">
              <a:spcBef>
                <a:spcPts val="0"/>
              </a:spcBef>
              <a:spcAft>
                <a:spcPts val="0"/>
              </a:spcAft>
              <a:buNone/>
            </a:pPr>
            <a:r>
              <a:t/>
            </a:r>
            <a:endParaRPr sz="1200">
              <a:solidFill>
                <a:schemeClr val="dk1"/>
              </a:solidFill>
              <a:latin typeface="Blinker"/>
              <a:ea typeface="Blinker"/>
              <a:cs typeface="Blinker"/>
              <a:sym typeface="Blink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1"/>
          <p:cNvSpPr txBox="1"/>
          <p:nvPr>
            <p:ph type="title"/>
          </p:nvPr>
        </p:nvSpPr>
        <p:spPr>
          <a:xfrm>
            <a:off x="474750" y="156225"/>
            <a:ext cx="6299400" cy="6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300"/>
              <a:t>RESULTS</a:t>
            </a:r>
            <a:endParaRPr sz="4300"/>
          </a:p>
        </p:txBody>
      </p:sp>
      <p:sp>
        <p:nvSpPr>
          <p:cNvPr id="413" name="Google Shape;413;p41"/>
          <p:cNvSpPr txBox="1"/>
          <p:nvPr/>
        </p:nvSpPr>
        <p:spPr>
          <a:xfrm>
            <a:off x="539750" y="958825"/>
            <a:ext cx="4061100" cy="38505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Char char="●"/>
            </a:pPr>
            <a:r>
              <a:rPr b="1" lang="en" sz="1100"/>
              <a:t>Gaussian Blur</a:t>
            </a:r>
            <a:r>
              <a:rPr lang="en" sz="1100"/>
              <a:t> shows the </a:t>
            </a:r>
            <a:r>
              <a:rPr b="1" lang="en" sz="1100"/>
              <a:t>lowest values across all blur strength metrics</a:t>
            </a:r>
            <a:r>
              <a:rPr lang="en" sz="1100"/>
              <a:t>, making it </a:t>
            </a:r>
            <a:r>
              <a:rPr b="1" lang="en" sz="1100"/>
              <a:t>the most effective at anonymizing</a:t>
            </a:r>
            <a:r>
              <a:rPr lang="en" sz="1100"/>
              <a:t> the face.It </a:t>
            </a:r>
            <a:r>
              <a:rPr lang="en" sz="1100"/>
              <a:t>provides a </a:t>
            </a:r>
            <a:r>
              <a:rPr b="1" lang="en" sz="1100"/>
              <a:t>balanced performance</a:t>
            </a:r>
            <a:r>
              <a:rPr lang="en" sz="1100"/>
              <a:t> between </a:t>
            </a:r>
            <a:r>
              <a:rPr b="1" lang="en" sz="1100"/>
              <a:t>maximum anonymization and minimal quality loss</a:t>
            </a:r>
            <a:r>
              <a:rPr lang="en" sz="1100"/>
              <a:t>.</a:t>
            </a:r>
            <a:br>
              <a:rPr lang="en" sz="1100"/>
            </a:br>
            <a:endParaRPr sz="1100"/>
          </a:p>
          <a:p>
            <a:pPr indent="-298450" lvl="0" marL="457200" rtl="0" algn="l">
              <a:lnSpc>
                <a:spcPct val="115000"/>
              </a:lnSpc>
              <a:spcBef>
                <a:spcPts val="0"/>
              </a:spcBef>
              <a:spcAft>
                <a:spcPts val="0"/>
              </a:spcAft>
              <a:buSzPts val="1100"/>
              <a:buChar char="●"/>
            </a:pPr>
            <a:r>
              <a:rPr b="1" lang="en" sz="1100"/>
              <a:t>Dot Blur</a:t>
            </a:r>
            <a:r>
              <a:rPr lang="en" sz="1100"/>
              <a:t> is the least blurred and therefore </a:t>
            </a:r>
            <a:r>
              <a:rPr b="1" lang="en" sz="1100"/>
              <a:t>least suitable</a:t>
            </a:r>
            <a:r>
              <a:rPr lang="en" sz="1100"/>
              <a:t> for anonymization.</a:t>
            </a:r>
            <a:br>
              <a:rPr lang="en" sz="1100"/>
            </a:br>
            <a:endParaRPr sz="1100"/>
          </a:p>
          <a:p>
            <a:pPr indent="-298450" lvl="0" marL="457200" rtl="0" algn="l">
              <a:lnSpc>
                <a:spcPct val="115000"/>
              </a:lnSpc>
              <a:spcBef>
                <a:spcPts val="0"/>
              </a:spcBef>
              <a:spcAft>
                <a:spcPts val="0"/>
              </a:spcAft>
              <a:buSzPts val="1100"/>
              <a:buChar char="●"/>
            </a:pPr>
            <a:r>
              <a:rPr b="1" lang="en" sz="1100"/>
              <a:t>Triangle Blur</a:t>
            </a:r>
            <a:r>
              <a:rPr lang="en" sz="1100"/>
              <a:t> and </a:t>
            </a:r>
            <a:r>
              <a:rPr b="1" lang="en" sz="1100"/>
              <a:t>Mosaic Blur</a:t>
            </a:r>
            <a:r>
              <a:rPr lang="en" sz="1100"/>
              <a:t> offer moderate levels of blur — acceptable, but not as strong as Gaussian.</a:t>
            </a:r>
            <a:endParaRPr sz="1100"/>
          </a:p>
          <a:p>
            <a:pPr indent="-298450" lvl="0" marL="457200" rtl="0" algn="l">
              <a:spcBef>
                <a:spcPts val="0"/>
              </a:spcBef>
              <a:spcAft>
                <a:spcPts val="0"/>
              </a:spcAft>
              <a:buSzPts val="1100"/>
              <a:buChar char="●"/>
            </a:pPr>
            <a:r>
              <a:rPr b="1" lang="en" sz="1100"/>
              <a:t>Mosaic Blur</a:t>
            </a:r>
            <a:r>
              <a:rPr lang="en" sz="1100"/>
              <a:t> slightly outperforms in PSNR and MSE, indicating good visual quality retention.</a:t>
            </a:r>
            <a:br>
              <a:rPr lang="en" sz="1100"/>
            </a:br>
            <a:endParaRPr sz="1100"/>
          </a:p>
          <a:p>
            <a:pPr indent="-298450" lvl="0" marL="457200" rtl="0" algn="l">
              <a:spcBef>
                <a:spcPts val="0"/>
              </a:spcBef>
              <a:spcAft>
                <a:spcPts val="0"/>
              </a:spcAft>
              <a:buSzPts val="1100"/>
              <a:buChar char="●"/>
            </a:pPr>
            <a:r>
              <a:rPr b="1" lang="en" sz="1100"/>
              <a:t>Triangle Blur</a:t>
            </a:r>
            <a:r>
              <a:rPr lang="en" sz="1100"/>
              <a:t> has </a:t>
            </a:r>
            <a:r>
              <a:rPr b="1" lang="en" sz="1100"/>
              <a:t>the worst MSE</a:t>
            </a:r>
            <a:r>
              <a:rPr lang="en" sz="1100"/>
              <a:t>, meaning more distortion.</a:t>
            </a:r>
            <a:br>
              <a:rPr lang="en" sz="1100"/>
            </a:br>
            <a:endParaRPr sz="1100"/>
          </a:p>
          <a:p>
            <a:pPr indent="-298450" lvl="0" marL="457200" rtl="0" algn="l">
              <a:spcBef>
                <a:spcPts val="0"/>
              </a:spcBef>
              <a:spcAft>
                <a:spcPts val="0"/>
              </a:spcAft>
              <a:buSzPts val="1100"/>
              <a:buChar char="●"/>
            </a:pPr>
            <a:r>
              <a:rPr b="1" lang="en" sz="1100"/>
              <a:t>Dot Blur</a:t>
            </a:r>
            <a:r>
              <a:rPr lang="en" sz="1100"/>
              <a:t>, despite decent SSIM, lacks in blur strength </a:t>
            </a:r>
            <a:r>
              <a:rPr b="1" lang="en" sz="1100"/>
              <a:t>and introduces more error</a:t>
            </a:r>
            <a:r>
              <a:rPr lang="en" sz="1100"/>
              <a:t>.</a:t>
            </a:r>
            <a:br>
              <a:rPr lang="en" sz="1100"/>
            </a:br>
            <a:endParaRPr sz="1100"/>
          </a:p>
        </p:txBody>
      </p:sp>
      <p:sp>
        <p:nvSpPr>
          <p:cNvPr id="414" name="Google Shape;414;p41"/>
          <p:cNvSpPr/>
          <p:nvPr/>
        </p:nvSpPr>
        <p:spPr>
          <a:xfrm>
            <a:off x="5226275" y="1312350"/>
            <a:ext cx="3420900" cy="25188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linker"/>
              <a:ea typeface="Blinker"/>
              <a:cs typeface="Blinker"/>
              <a:sym typeface="Blinker"/>
            </a:endParaRPr>
          </a:p>
        </p:txBody>
      </p:sp>
      <p:sp>
        <p:nvSpPr>
          <p:cNvPr id="415" name="Google Shape;415;p41"/>
          <p:cNvSpPr txBox="1"/>
          <p:nvPr/>
        </p:nvSpPr>
        <p:spPr>
          <a:xfrm>
            <a:off x="4917625" y="1361850"/>
            <a:ext cx="3656400" cy="201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t/>
            </a:r>
            <a:endParaRPr b="1" sz="1300"/>
          </a:p>
          <a:p>
            <a:pPr indent="0" lvl="0" marL="457200" rtl="0" algn="l">
              <a:lnSpc>
                <a:spcPct val="115000"/>
              </a:lnSpc>
              <a:spcBef>
                <a:spcPts val="1200"/>
              </a:spcBef>
              <a:spcAft>
                <a:spcPts val="0"/>
              </a:spcAft>
              <a:buNone/>
            </a:pPr>
            <a:r>
              <a:rPr b="1" lang="en" sz="1100"/>
              <a:t>Best for anonymization</a:t>
            </a:r>
            <a:r>
              <a:rPr lang="en" sz="1100"/>
              <a:t>: </a:t>
            </a:r>
            <a:r>
              <a:rPr b="1" lang="en" sz="1100">
                <a:highlight>
                  <a:schemeClr val="lt2"/>
                </a:highlight>
              </a:rPr>
              <a:t>Gaussian Blur</a:t>
            </a:r>
            <a:r>
              <a:rPr lang="en" sz="1100"/>
              <a:t> — strongest blur with good visual quality.</a:t>
            </a:r>
            <a:endParaRPr sz="1100"/>
          </a:p>
          <a:p>
            <a:pPr indent="0" lvl="0" marL="457200" rtl="0" algn="l">
              <a:lnSpc>
                <a:spcPct val="115000"/>
              </a:lnSpc>
              <a:spcBef>
                <a:spcPts val="1200"/>
              </a:spcBef>
              <a:spcAft>
                <a:spcPts val="0"/>
              </a:spcAft>
              <a:buNone/>
            </a:pPr>
            <a:r>
              <a:rPr b="1" lang="en" sz="1100"/>
              <a:t>Best visual quality retention</a:t>
            </a:r>
            <a:r>
              <a:rPr lang="en" sz="1100"/>
              <a:t>: </a:t>
            </a:r>
            <a:r>
              <a:rPr b="1" lang="en" sz="1100"/>
              <a:t>Mosaic Blur</a:t>
            </a:r>
            <a:r>
              <a:rPr lang="en" sz="1100"/>
              <a:t> — strong PSNR and SSIM, moderately blurred.</a:t>
            </a:r>
            <a:endParaRPr sz="1100"/>
          </a:p>
          <a:p>
            <a:pPr indent="0" lvl="0" marL="457200" rtl="0" algn="l">
              <a:lnSpc>
                <a:spcPct val="115000"/>
              </a:lnSpc>
              <a:spcBef>
                <a:spcPts val="1200"/>
              </a:spcBef>
              <a:spcAft>
                <a:spcPts val="1200"/>
              </a:spcAft>
              <a:buNone/>
            </a:pPr>
            <a:r>
              <a:rPr b="1" lang="en" sz="1100"/>
              <a:t>Not ideal</a:t>
            </a:r>
            <a:r>
              <a:rPr lang="en" sz="1100"/>
              <a:t>: </a:t>
            </a:r>
            <a:r>
              <a:rPr b="1" lang="en" sz="1100"/>
              <a:t>Dot Blur</a:t>
            </a:r>
            <a:r>
              <a:rPr lang="en" sz="1100"/>
              <a:t> (least blurred) and </a:t>
            </a:r>
            <a:r>
              <a:rPr b="1" lang="en" sz="1100"/>
              <a:t>Triangle Blur</a:t>
            </a:r>
            <a:r>
              <a:rPr lang="en" sz="1100"/>
              <a:t> (high distortion).</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2"/>
          <p:cNvSpPr txBox="1"/>
          <p:nvPr>
            <p:ph type="title"/>
          </p:nvPr>
        </p:nvSpPr>
        <p:spPr>
          <a:xfrm>
            <a:off x="3056797" y="2042400"/>
            <a:ext cx="32823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400"/>
              <a:t>Thankyou</a:t>
            </a:r>
            <a:endParaRPr sz="5400"/>
          </a:p>
        </p:txBody>
      </p:sp>
    </p:spTree>
  </p:cSld>
  <p:clrMapOvr>
    <a:masterClrMapping/>
  </p:clrMapOvr>
</p:sld>
</file>

<file path=ppt/theme/theme1.xml><?xml version="1.0" encoding="utf-8"?>
<a:theme xmlns:a="http://schemas.openxmlformats.org/drawingml/2006/main" xmlns:r="http://schemas.openxmlformats.org/officeDocument/2006/relationships" name="Digital Transformation Plan Project Proposal by Slidesgo">
  <a:themeElements>
    <a:clrScheme name="Simple Light">
      <a:dk1>
        <a:srgbClr val="1C285A"/>
      </a:dk1>
      <a:lt1>
        <a:srgbClr val="FFFFFF"/>
      </a:lt1>
      <a:dk2>
        <a:srgbClr val="6574CA"/>
      </a:dk2>
      <a:lt2>
        <a:srgbClr val="65B2F5"/>
      </a:lt2>
      <a:accent1>
        <a:srgbClr val="94EAF8"/>
      </a:accent1>
      <a:accent2>
        <a:srgbClr val="D98AE9"/>
      </a:accent2>
      <a:accent3>
        <a:srgbClr val="EDE9F8"/>
      </a:accent3>
      <a:accent4>
        <a:srgbClr val="FFFFFF"/>
      </a:accent4>
      <a:accent5>
        <a:srgbClr val="FFFFFF"/>
      </a:accent5>
      <a:accent6>
        <a:srgbClr val="FFFFFF"/>
      </a:accent6>
      <a:hlink>
        <a:srgbClr val="1C28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